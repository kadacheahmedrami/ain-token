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Revenue index</c:v>
                </c:pt>
              </c:strCache>
            </c:strRef>
          </c:tx>
          <c:spPr>
            <a:solidFill>
              <a:srgbClr val="176C55"/>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Alger</c:v>
                  </c:pt>
                  <c:pt idx="1">
                    <c:v>Oran</c:v>
                  </c:pt>
                  <c:pt idx="2">
                    <c:v>Constantine</c:v>
                  </c:pt>
                </c:lvl>
              </c:multiLvlStrCache>
            </c:multiLvlStrRef>
          </c:cat>
          <c:val>
            <c:numRef>
              <c:f>Sheet1!$B$2:$B$4</c:f>
              <c:numCache>
                <c:formatCode>General</c:formatCode>
                <c:ptCount val="3"/>
                <c:pt idx="0">
                  <c:v>100</c:v>
                </c:pt>
                <c:pt idx="1">
                  <c:v>61</c:v>
                </c:pt>
                <c:pt idx="2">
                  <c:v>43</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none"/>
        <c:minorTickMark val="none"/>
        <c:tickLblPos val="nextTo"/>
        <c:spPr>
          <a:ln w="12700" cap="flat">
            <a:noFill/>
            <a:prstDash val="solid"/>
            <a:round/>
          </a:ln>
        </c:spPr>
        <c:txPr>
          <a:bodyPr/>
          <a:lstStyle/>
          <a:p>
            <a:pPr>
              <a:defRPr sz="1000" b="0" i="0" u="none" strike="noStrike">
                <a:solidFill>
                  <a:srgbClr val="526661"/>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12700" cap="flat">
              <a:solidFill>
                <a:srgbClr val="DCE7E2"/>
              </a:solidFill>
              <a:prstDash val="solid"/>
              <a:round/>
            </a:ln>
          </c:spPr>
        </c:majorGridlines>
        <c:numFmt formatCode="General" sourceLinked="0"/>
        <c:majorTickMark val="none"/>
        <c:minorTickMark val="none"/>
        <c:tickLblPos val="low"/>
        <c:spPr>
          <a:ln w="12700" cap="flat">
            <a:noFill/>
            <a:prstDash val="solid"/>
            <a:round/>
          </a:ln>
        </c:spPr>
        <c:txPr>
          <a:bodyPr/>
          <a:lstStyle/>
          <a:p>
            <a:pPr>
              <a:defRPr sz="900" b="0" i="0" u="none" strike="noStrike">
                <a:solidFill>
                  <a:srgbClr val="526661"/>
                </a:solidFill>
                <a:latin typeface="Calibri"/>
              </a:defRPr>
            </a:pPr>
            <a:endParaRPr lang="en-US"/>
          </a:p>
        </c:txPr>
        <c:crossAx val="2094734554"/>
        <c:crosses val="autoZero"/>
        <c:crossBetween val="between"/>
        <c:majorUnit val="50"/>
      </c:valAx>
      <c:spPr>
        <a:solidFill>
          <a:srgbClr val="FFFFFF"/>
        </a:solidFill>
        <a:ln w="12700" cap="flat">
          <a:solidFill>
            <a:srgbClr val="FFFFFF"/>
          </a:solidFill>
        </a:ln>
        <a:effectLst/>
      </c:spPr>
    </c:plotArea>
    <c:plotVisOnly val="1"/>
    <c:dispBlanksAs val="span"/>
  </c:chart>
  <c:spPr>
    <a:solidFill>
      <a:srgbClr val="FFFFFF"/>
    </a:solidFill>
    <a:ln w="12700" cap="flat">
      <a:solidFill>
        <a:srgbClr val="FFFFFF"/>
      </a:solid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Revenue index</c:v>
                </c:pt>
              </c:strCache>
            </c:strRef>
          </c:tx>
          <c:spPr>
            <a:solidFill>
              <a:srgbClr val="176C55"/>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Qwen3 30B</c:v>
                  </c:pt>
                  <c:pt idx="1">
                    <c:v>Coder 32B</c:v>
                  </c:pt>
                  <c:pt idx="2">
                    <c:v>Llama 8B</c:v>
                  </c:pt>
                </c:lvl>
              </c:multiLvlStrCache>
            </c:multiLvlStrRef>
          </c:cat>
          <c:val>
            <c:numRef>
              <c:f>Sheet1!$B$2:$B$4</c:f>
              <c:numCache>
                <c:formatCode>General</c:formatCode>
                <c:ptCount val="3"/>
                <c:pt idx="0">
                  <c:v>100</c:v>
                </c:pt>
                <c:pt idx="1">
                  <c:v>72</c:v>
                </c:pt>
                <c:pt idx="2">
                  <c:v>49</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none"/>
        <c:minorTickMark val="none"/>
        <c:tickLblPos val="nextTo"/>
        <c:spPr>
          <a:ln w="12700" cap="flat">
            <a:noFill/>
            <a:prstDash val="solid"/>
            <a:round/>
          </a:ln>
        </c:spPr>
        <c:txPr>
          <a:bodyPr/>
          <a:lstStyle/>
          <a:p>
            <a:pPr>
              <a:defRPr sz="1000" b="0" i="0" u="none" strike="noStrike">
                <a:solidFill>
                  <a:srgbClr val="526661"/>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12700" cap="flat">
              <a:solidFill>
                <a:srgbClr val="DCE7E2"/>
              </a:solidFill>
              <a:prstDash val="solid"/>
              <a:round/>
            </a:ln>
          </c:spPr>
        </c:majorGridlines>
        <c:numFmt formatCode="General" sourceLinked="0"/>
        <c:majorTickMark val="none"/>
        <c:minorTickMark val="none"/>
        <c:tickLblPos val="low"/>
        <c:spPr>
          <a:ln w="12700" cap="flat">
            <a:noFill/>
            <a:prstDash val="solid"/>
            <a:round/>
          </a:ln>
        </c:spPr>
        <c:txPr>
          <a:bodyPr/>
          <a:lstStyle/>
          <a:p>
            <a:pPr>
              <a:defRPr sz="900" b="0" i="0" u="none" strike="noStrike">
                <a:solidFill>
                  <a:srgbClr val="526661"/>
                </a:solidFill>
                <a:latin typeface="Calibri"/>
              </a:defRPr>
            </a:pPr>
            <a:endParaRPr lang="en-US"/>
          </a:p>
        </c:txPr>
        <c:crossAx val="2094734554"/>
        <c:crosses val="autoZero"/>
        <c:crossBetween val="between"/>
        <c:majorUnit val="50"/>
      </c:valAx>
      <c:spPr>
        <a:solidFill>
          <a:srgbClr val="FFFFFF"/>
        </a:solidFill>
        <a:ln w="12700" cap="flat">
          <a:solidFill>
            <a:srgbClr val="FFFFFF"/>
          </a:solidFill>
        </a:ln>
        <a:effectLst/>
      </c:spPr>
    </c:plotArea>
    <c:plotVisOnly val="1"/>
    <c:dispBlanksAs val="span"/>
  </c:chart>
  <c:spPr>
    <a:solidFill>
      <a:srgbClr val="FFFFFF"/>
    </a:solidFill>
    <a:ln w="12700" cap="flat">
      <a:solidFill>
        <a:srgbClr val="FFFFFF"/>
      </a:solid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Revenue index</c:v>
                </c:pt>
              </c:strCache>
            </c:strRef>
          </c:tx>
          <c:spPr>
            <a:solidFill>
              <a:srgbClr val="176C55"/>
            </a:solidFill>
            <a:ln w="31750" cap="flat">
              <a:solidFill>
                <a:srgbClr val="176C5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76C55"/>
              </a:solidFill>
              <a:ln w="9525" cap="flat">
                <a:solidFill>
                  <a:srgbClr val="176C55"/>
                </a:solidFill>
                <a:prstDash val="solid"/>
                <a:round/>
              </a:ln>
              <a:effectLst/>
            </c:spPr>
          </c:marker>
          <c:cat>
            <c:multiLvlStrRef>
              <c:f>Sheet1!$A$2:$A$7</c:f>
              <c:multiLvlStrCache>
                <c:ptCount val="6"/>
                <c:lvl>
                  <c:pt idx="0">
                    <c:v>May</c:v>
                  </c:pt>
                  <c:pt idx="1">
                    <c:v>Jun</c:v>
                  </c:pt>
                  <c:pt idx="2">
                    <c:v>Jul</c:v>
                  </c:pt>
                  <c:pt idx="3">
                    <c:v>Aug</c:v>
                  </c:pt>
                  <c:pt idx="4">
                    <c:v>Sep</c:v>
                  </c:pt>
                  <c:pt idx="5">
                    <c:v>Oct</c:v>
                  </c:pt>
                </c:lvl>
              </c:multiLvlStrCache>
            </c:multiLvlStrRef>
          </c:cat>
          <c:val>
            <c:numRef>
              <c:f>Sheet1!$B$2:$B$7</c:f>
              <c:numCache>
                <c:formatCode>General</c:formatCode>
                <c:ptCount val="6"/>
                <c:pt idx="0">
                  <c:v>42</c:v>
                </c:pt>
                <c:pt idx="1">
                  <c:v>48</c:v>
                </c:pt>
                <c:pt idx="2">
                  <c:v>46</c:v>
                </c:pt>
                <c:pt idx="3">
                  <c:v>62</c:v>
                </c:pt>
                <c:pt idx="4">
                  <c:v>80</c:v>
                </c:pt>
                <c:pt idx="5">
                  <c:v>100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none"/>
        <c:minorTickMark val="none"/>
        <c:tickLblPos val="low"/>
        <c:spPr>
          <a:ln w="12700" cap="flat">
            <a:noFill/>
            <a:prstDash val="solid"/>
            <a:round/>
          </a:ln>
        </c:spPr>
        <c:txPr>
          <a:bodyPr/>
          <a:lstStyle/>
          <a:p>
            <a:pPr>
              <a:defRPr sz="1000" b="0" i="0" u="none" strike="noStrike">
                <a:solidFill>
                  <a:srgbClr val="526661"/>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12700" cap="flat">
              <a:solidFill>
                <a:srgbClr val="DCE7E2"/>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900" b="0" i="0" u="none" strike="noStrike">
                <a:solidFill>
                  <a:srgbClr val="526661"/>
                </a:solidFill>
                <a:latin typeface="Calibri"/>
              </a:defRPr>
            </a:pPr>
            <a:endParaRPr lang="en-US"/>
          </a:p>
        </c:txPr>
        <c:crossAx val="2094734554"/>
        <c:crosses val="autoZero"/>
        <c:crossBetween val="between"/>
        <c:majorUnit val="50"/>
      </c:valAx>
      <c:spPr>
        <a:solidFill>
          <a:srgbClr val="FFFFFF"/>
        </a:solidFill>
        <a:ln w="12700" cap="flat">
          <a:solidFill>
            <a:srgbClr val="FFFFFF"/>
          </a:solidFill>
        </a:ln>
        <a:effectLst/>
      </c:spPr>
    </c:plotArea>
    <c:plotVisOnly val="1"/>
    <c:dispBlanksAs val="span"/>
  </c:chart>
  <c:spPr>
    <a:solidFill>
      <a:srgbClr val="FFFFFF"/>
    </a:solidFill>
    <a:ln w="12700" cap="flat">
      <a:solidFill>
        <a:srgbClr val="FFFFFF"/>
      </a:solid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(~30–40 seconds)
Ain Token, where Ain means spring or source in Arabic, is a fictional Algerian AI inference provider. It hosts open-source language models on its own GPUs and sells access by the million tokens through an OpenAI-compatible API, with local payment options. The ecosystem includes clients, management, GPU providers, payment partners and support. We analyse performance through four dimensions: client, model, region and time. These become the filters and breakdowns of our dashboard.
PRESENTER REFERENCE (not spoken)
Model examples: Qwen3 30B, Qwen3 32B, Coder 32B, Llama 8B. Region examples: Alger, Oran, Constantine, Béjaïa, Batna. Clients: developers, startups, enterprises. Presenter: Kadache Ahmed Rami, 3CS2. Course: Business Intelligence. Ain in Arabic: عين.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(~30–40 seconds)
Management has five recurring questions: which models earn the most, whether usage is growing, which regions generate revenue, which segments are most valuable, and how large the average invoice is. Each leads to a concrete decision about model selection, GPU capacity, marketing or pricing. Today, logs, payments and invoices are fragmented, so decisions rely on guesswork. GPUs cost money even when idle. Our dashboard brings these answers into one reliable view.
PRESENTER REFERENCE (not spoken)
Regional decisions also include support allocation. Pricing decisions include enterprise plans and volume discounts; invoice-size decisions include minimum top-up amounts, prepaid packages and upselling. Revenue is not profit: investment and model retirement also need cost, utilisation and service-quality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(~30–40 seconds)
We propose four KPIs. Total revenue and total tokens sold show business size and demand. Average invoice value shows how much clients spend per purchase. Month-over-month growth signals acceleration or a slowdown. The dashboard adds revenue by region, top models and the monthly trend. The charts shown here are illustrative, not actual results. With production data, we would add GPU utilisation and cost per million tokens, because margin is what makes an inference business profitable.
PRESENTER REFERENCE (not spoken)
M = one million tokens. Total revenue = sum of million tokens × price per million. Average invoice value = total revenue ÷ invoice count. If sales has exactly one row per invoice, use number of sales; otherwise count distinct invoice IDs. MoM growth = (this month revenue − previous month revenue) ÷ previous month revenue × 100. Compare complete months; show N/A when the previous month is zero or missing. Charts use synthetic indexed values from 0 to 100, not DZD or actual Ain Token data. Dashboard dimensions: client, model, region, time. Technical stack: SQLite ventes.db (customers, products, sales) → Python Streamlit.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slideLayout" Target="../slideLayouts/slideLayout1.xml"/><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5" Type="http://schemas.openxmlformats.org/officeDocument/2006/relationships/chart" Target="/ppt/charts/chart1.xml"/><Relationship Id="rId6" Type="http://schemas.openxmlformats.org/officeDocument/2006/relationships/chart" Target="/ppt/charts/chart2.xml"/><Relationship Id="rId7" Type="http://schemas.openxmlformats.org/officeDocument/2006/relationships/chart" Target="/ppt/charts/chart3.xml"/><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BrandDisk"/>
          <p:cNvSpPr/>
          <p:nvPr/>
        </p:nvSpPr>
        <p:spPr>
          <a:xfrm>
            <a:off x="530352" y="365760"/>
            <a:ext cx="356616" cy="356616"/>
          </a:xfrm>
          <a:prstGeom prst="ellipse">
            <a:avLst/>
          </a:prstGeom>
          <a:solidFill>
            <a:srgbClr val="102E2E"/>
          </a:solidFill>
          <a:ln w="12700">
            <a:solidFill>
              <a:srgbClr val="102E2E">
                <a:alpha val="0"/>
              </a:srgbClr>
            </a:solidFill>
            <a:prstDash val="solid"/>
          </a:ln>
        </p:spPr>
      </p:sp>
      <p:sp>
        <p:nvSpPr>
          <p:cNvPr id="3" name="Shape 1"/>
          <p:cNvSpPr/>
          <p:nvPr/>
        </p:nvSpPr>
        <p:spPr>
          <a:xfrm>
            <a:off x="637337" y="585216"/>
            <a:ext cx="71323" cy="-100584"/>
          </a:xfrm>
          <a:prstGeom prst="line">
            <a:avLst/>
          </a:prstGeom>
          <a:noFill/>
          <a:ln w="25400">
            <a:solidFill>
              <a:srgbClr val="BDFADE"/>
            </a:solidFill>
            <a:prstDash val="solid"/>
          </a:ln>
        </p:spPr>
      </p:sp>
      <p:sp>
        <p:nvSpPr>
          <p:cNvPr id="4" name="Shape 2"/>
          <p:cNvSpPr/>
          <p:nvPr/>
        </p:nvSpPr>
        <p:spPr>
          <a:xfrm>
            <a:off x="708660" y="484632"/>
            <a:ext cx="71323" cy="100584"/>
          </a:xfrm>
          <a:prstGeom prst="line">
            <a:avLst/>
          </a:prstGeom>
          <a:noFill/>
          <a:ln w="25400">
            <a:solidFill>
              <a:srgbClr val="BDFADE"/>
            </a:solidFill>
            <a:prstDash val="solid"/>
          </a:ln>
        </p:spPr>
      </p:sp>
      <p:sp>
        <p:nvSpPr>
          <p:cNvPr id="5" name="Shape 3"/>
          <p:cNvSpPr/>
          <p:nvPr/>
        </p:nvSpPr>
        <p:spPr>
          <a:xfrm>
            <a:off x="658368" y="603504"/>
            <a:ext cx="98755" cy="0"/>
          </a:xfrm>
          <a:prstGeom prst="line">
            <a:avLst/>
          </a:prstGeom>
          <a:noFill/>
          <a:ln w="25400">
            <a:solidFill>
              <a:srgbClr val="BDFADE"/>
            </a:solidFill>
            <a:prstDash val="solid"/>
          </a:ln>
        </p:spPr>
      </p:sp>
      <p:sp>
        <p:nvSpPr>
          <p:cNvPr id="6" name="!!BrandWord"/>
          <p:cNvSpPr txBox="1"/>
          <p:nvPr/>
        </p:nvSpPr>
        <p:spPr>
          <a:xfrm>
            <a:off x="987552" y="370332"/>
            <a:ext cx="1828800" cy="310896"/>
          </a:xfrm>
          <a:prstGeom prst="rect">
            <a:avLst/>
          </a:prstGeom>
          <a:noFill/>
          <a:ln/>
        </p:spPr>
        <p:txBody>
          <a:bodyPr wrap="square" lIns="0" tIns="0" rIns="0" bIns="0" rtlCol="0" anchor="ctr"/>
          <a:lstStyle/>
          <a:p>
            <a:pPr indent="0" marL="0">
              <a:buNone/>
            </a:pPr>
            <a:r>
              <a:rPr lang="en-US" sz="2000" b="1" dirty="0">
                <a:solidFill>
                  <a:srgbClr val="102E2E"/>
                </a:solidFill>
                <a:latin typeface="Calibri" pitchFamily="34" charset="0"/>
                <a:ea typeface="Calibri" pitchFamily="34" charset="-122"/>
                <a:cs typeface="Calibri" pitchFamily="34" charset="-120"/>
              </a:rPr>
              <a:t>ain token</a:t>
            </a:r>
            <a:endParaRPr lang="en-US" sz="2000" dirty="0"/>
          </a:p>
        </p:txBody>
      </p:sp>
      <p:sp>
        <p:nvSpPr>
          <p:cNvPr id="7" name="Text 5"/>
          <p:cNvSpPr txBox="1"/>
          <p:nvPr/>
        </p:nvSpPr>
        <p:spPr>
          <a:xfrm>
            <a:off x="2999232" y="429768"/>
            <a:ext cx="3657600" cy="182880"/>
          </a:xfrm>
          <a:prstGeom prst="rect">
            <a:avLst/>
          </a:prstGeom>
          <a:noFill/>
          <a:ln/>
        </p:spPr>
        <p:txBody>
          <a:bodyPr wrap="square" lIns="0" tIns="0" rIns="0" bIns="0" rtlCol="0" anchor="ctr"/>
          <a:lstStyle/>
          <a:p>
            <a:pPr indent="0" marL="0">
              <a:buNone/>
            </a:pPr>
            <a:r>
              <a:rPr lang="en-US" sz="1050" spc="160" kern="0" dirty="0">
                <a:solidFill>
                  <a:srgbClr val="526661"/>
                </a:solidFill>
                <a:latin typeface="Calibri" pitchFamily="34" charset="0"/>
                <a:ea typeface="Calibri" pitchFamily="34" charset="-122"/>
                <a:cs typeface="Calibri" pitchFamily="34" charset="-120"/>
              </a:rPr>
              <a:t>TP1 / BUSINESS INTELLIGENCE</a:t>
            </a:r>
            <a:endParaRPr lang="en-US" sz="1050" dirty="0"/>
          </a:p>
        </p:txBody>
      </p:sp>
      <p:sp>
        <p:nvSpPr>
          <p:cNvPr id="8" name="!!SectionActive"/>
          <p:cNvSpPr/>
          <p:nvPr/>
        </p:nvSpPr>
        <p:spPr>
          <a:xfrm>
            <a:off x="9445752" y="365760"/>
            <a:ext cx="603504" cy="338328"/>
          </a:xfrm>
          <a:prstGeom prst="roundRect">
            <a:avLst>
              <a:gd name="adj" fmla="val 45946"/>
            </a:avLst>
          </a:prstGeom>
          <a:solidFill>
            <a:srgbClr val="102E2E"/>
          </a:solidFill>
          <a:ln w="12700">
            <a:solidFill>
              <a:srgbClr val="102E2E">
                <a:alpha val="0"/>
              </a:srgbClr>
            </a:solidFill>
            <a:prstDash val="solid"/>
          </a:ln>
        </p:spPr>
      </p:sp>
      <p:sp>
        <p:nvSpPr>
          <p:cNvPr id="9" name="Section0"/>
          <p:cNvSpPr txBox="1"/>
          <p:nvPr/>
        </p:nvSpPr>
        <p:spPr>
          <a:xfrm>
            <a:off x="9445752" y="406908"/>
            <a:ext cx="60350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sp>
        <p:nvSpPr>
          <p:cNvPr id="10" name="Section1"/>
          <p:cNvSpPr txBox="1"/>
          <p:nvPr/>
        </p:nvSpPr>
        <p:spPr>
          <a:xfrm>
            <a:off x="10232136" y="406908"/>
            <a:ext cx="603504" cy="164592"/>
          </a:xfrm>
          <a:prstGeom prst="rect">
            <a:avLst/>
          </a:prstGeom>
          <a:noFill/>
          <a:ln/>
        </p:spPr>
        <p:txBody>
          <a:bodyPr wrap="square" lIns="0" tIns="0" rIns="0" bIns="0" rtlCol="0" anchor="ctr"/>
          <a:lstStyle/>
          <a:p>
            <a:pPr algn="ctr" indent="0" marL="0">
              <a:buNone/>
            </a:pPr>
            <a:r>
              <a:rPr lang="en-US" sz="1100" b="1" dirty="0">
                <a:solidFill>
                  <a:srgbClr val="8CA59C"/>
                </a:solidFill>
                <a:latin typeface="Calibri" pitchFamily="34" charset="0"/>
                <a:ea typeface="Calibri" pitchFamily="34" charset="-122"/>
                <a:cs typeface="Calibri" pitchFamily="34" charset="-120"/>
              </a:rPr>
              <a:t>02</a:t>
            </a:r>
            <a:endParaRPr lang="en-US" sz="1100" dirty="0"/>
          </a:p>
        </p:txBody>
      </p:sp>
      <p:sp>
        <p:nvSpPr>
          <p:cNvPr id="11" name="Section2"/>
          <p:cNvSpPr txBox="1"/>
          <p:nvPr/>
        </p:nvSpPr>
        <p:spPr>
          <a:xfrm>
            <a:off x="11018520" y="406908"/>
            <a:ext cx="603504" cy="164592"/>
          </a:xfrm>
          <a:prstGeom prst="rect">
            <a:avLst/>
          </a:prstGeom>
          <a:noFill/>
          <a:ln/>
        </p:spPr>
        <p:txBody>
          <a:bodyPr wrap="square" lIns="0" tIns="0" rIns="0" bIns="0" rtlCol="0" anchor="ctr"/>
          <a:lstStyle/>
          <a:p>
            <a:pPr algn="ctr" indent="0" marL="0">
              <a:buNone/>
            </a:pPr>
            <a:r>
              <a:rPr lang="en-US" sz="1100" b="1" dirty="0">
                <a:solidFill>
                  <a:srgbClr val="8CA59C"/>
                </a:solidFill>
                <a:latin typeface="Calibri" pitchFamily="34" charset="0"/>
                <a:ea typeface="Calibri" pitchFamily="34" charset="-122"/>
                <a:cs typeface="Calibri" pitchFamily="34" charset="-120"/>
              </a:rPr>
              <a:t>03</a:t>
            </a:r>
            <a:endParaRPr lang="en-US" sz="1100" dirty="0"/>
          </a:p>
        </p:txBody>
      </p:sp>
      <p:sp>
        <p:nvSpPr>
          <p:cNvPr id="12" name="Text 10"/>
          <p:cNvSpPr txBox="1"/>
          <p:nvPr/>
        </p:nvSpPr>
        <p:spPr>
          <a:xfrm>
            <a:off x="548640" y="932688"/>
            <a:ext cx="10515600" cy="201168"/>
          </a:xfrm>
          <a:prstGeom prst="rect">
            <a:avLst/>
          </a:prstGeom>
          <a:noFill/>
          <a:ln/>
        </p:spPr>
        <p:txBody>
          <a:bodyPr wrap="square" lIns="0" tIns="0" rIns="0" bIns="0" rtlCol="0" anchor="ctr"/>
          <a:lstStyle/>
          <a:p>
            <a:pPr indent="0" marL="0">
              <a:buNone/>
            </a:pPr>
            <a:r>
              <a:rPr lang="en-US" sz="1100" b="1" spc="190" kern="0" dirty="0">
                <a:solidFill>
                  <a:srgbClr val="176C55"/>
                </a:solidFill>
                <a:latin typeface="Calibri" pitchFamily="34" charset="0"/>
                <a:ea typeface="Calibri" pitchFamily="34" charset="-122"/>
                <a:cs typeface="Calibri" pitchFamily="34" charset="-120"/>
              </a:rPr>
              <a:t>01 / THE ORGANISATION &amp; ITS ECOSYSTEM</a:t>
            </a:r>
            <a:endParaRPr lang="en-US" sz="1100" dirty="0"/>
          </a:p>
        </p:txBody>
      </p:sp>
      <p:sp>
        <p:nvSpPr>
          <p:cNvPr id="13" name="Text 11"/>
          <p:cNvSpPr txBox="1"/>
          <p:nvPr/>
        </p:nvSpPr>
        <p:spPr>
          <a:xfrm>
            <a:off x="548640" y="1298448"/>
            <a:ext cx="7315200" cy="594360"/>
          </a:xfrm>
          <a:prstGeom prst="rect">
            <a:avLst/>
          </a:prstGeom>
          <a:noFill/>
          <a:ln/>
        </p:spPr>
        <p:txBody>
          <a:bodyPr wrap="square" lIns="0" tIns="0" rIns="0" bIns="0" rtlCol="0" anchor="ctr"/>
          <a:lstStyle/>
          <a:p>
            <a:pPr indent="0" marL="0">
              <a:buNone/>
            </a:pPr>
            <a:r>
              <a:rPr lang="en-US" sz="4000" b="1" dirty="0">
                <a:solidFill>
                  <a:srgbClr val="102E2E"/>
                </a:solidFill>
                <a:latin typeface="Calibri" pitchFamily="34" charset="0"/>
                <a:ea typeface="Calibri" pitchFamily="34" charset="-122"/>
                <a:cs typeface="Calibri" pitchFamily="34" charset="-120"/>
              </a:rPr>
              <a:t>A local source of AI.</a:t>
            </a:r>
            <a:endParaRPr lang="en-US" sz="4000" dirty="0"/>
          </a:p>
        </p:txBody>
      </p:sp>
      <p:sp>
        <p:nvSpPr>
          <p:cNvPr id="14" name="Text 12"/>
          <p:cNvSpPr txBox="1"/>
          <p:nvPr/>
        </p:nvSpPr>
        <p:spPr>
          <a:xfrm>
            <a:off x="576072" y="1965960"/>
            <a:ext cx="4389120" cy="301752"/>
          </a:xfrm>
          <a:prstGeom prst="rect">
            <a:avLst/>
          </a:prstGeom>
          <a:noFill/>
          <a:ln/>
        </p:spPr>
        <p:txBody>
          <a:bodyPr wrap="square" lIns="0" tIns="0" rIns="0" bIns="0" rtlCol="0" anchor="ctr"/>
          <a:lstStyle/>
          <a:p>
            <a:pPr indent="0" marL="0">
              <a:buNone/>
            </a:pPr>
            <a:r>
              <a:rPr lang="en-US" sz="1700" dirty="0">
                <a:solidFill>
                  <a:srgbClr val="526661"/>
                </a:solidFill>
                <a:latin typeface="Calibri" pitchFamily="34" charset="0"/>
                <a:ea typeface="Calibri" pitchFamily="34" charset="-122"/>
                <a:cs typeface="Calibri" pitchFamily="34" charset="-120"/>
              </a:rPr>
              <a:t>Ain (عين) means “spring” or “source” in Arabic.</a:t>
            </a:r>
            <a:endParaRPr lang="en-US" sz="1700" dirty="0"/>
          </a:p>
        </p:txBody>
      </p:sp>
      <p:sp>
        <p:nvSpPr>
          <p:cNvPr id="15" name="Shape 13"/>
          <p:cNvSpPr/>
          <p:nvPr/>
        </p:nvSpPr>
        <p:spPr>
          <a:xfrm>
            <a:off x="548640" y="2514600"/>
            <a:ext cx="4096512" cy="2029968"/>
          </a:xfrm>
          <a:prstGeom prst="roundRect">
            <a:avLst>
              <a:gd name="adj" fmla="val 8108"/>
            </a:avLst>
          </a:prstGeom>
          <a:solidFill>
            <a:srgbClr val="F2F7F5"/>
          </a:solidFill>
          <a:ln w="12700">
            <a:solidFill>
              <a:srgbClr val="F2F7F5">
                <a:alpha val="0"/>
              </a:srgbClr>
            </a:solidFill>
            <a:prstDash val="solid"/>
          </a:ln>
        </p:spPr>
      </p:sp>
      <p:sp>
        <p:nvSpPr>
          <p:cNvPr id="16" name="Text 14"/>
          <p:cNvSpPr txBox="1"/>
          <p:nvPr/>
        </p:nvSpPr>
        <p:spPr>
          <a:xfrm>
            <a:off x="777240" y="2724912"/>
            <a:ext cx="3630168" cy="320040"/>
          </a:xfrm>
          <a:prstGeom prst="rect">
            <a:avLst/>
          </a:prstGeom>
          <a:noFill/>
          <a:ln/>
        </p:spPr>
        <p:txBody>
          <a:bodyPr wrap="square" lIns="0" tIns="0" rIns="0" bIns="0" rtlCol="0" anchor="ctr"/>
          <a:lstStyle/>
          <a:p>
            <a:pPr indent="0" marL="0">
              <a:buNone/>
            </a:pPr>
            <a:r>
              <a:rPr lang="en-US" sz="2200" b="1" dirty="0">
                <a:solidFill>
                  <a:srgbClr val="102E2E"/>
                </a:solidFill>
                <a:latin typeface="Calibri" pitchFamily="34" charset="0"/>
                <a:ea typeface="Calibri" pitchFamily="34" charset="-122"/>
                <a:cs typeface="Calibri" pitchFamily="34" charset="-120"/>
              </a:rPr>
              <a:t>Open models. Local access.</a:t>
            </a:r>
            <a:endParaRPr lang="en-US" sz="2200" dirty="0"/>
          </a:p>
        </p:txBody>
      </p:sp>
      <p:sp>
        <p:nvSpPr>
          <p:cNvPr id="17" name="Shape 15"/>
          <p:cNvSpPr/>
          <p:nvPr/>
        </p:nvSpPr>
        <p:spPr>
          <a:xfrm>
            <a:off x="786384" y="3227832"/>
            <a:ext cx="68580" cy="68580"/>
          </a:xfrm>
          <a:prstGeom prst="ellipse">
            <a:avLst/>
          </a:prstGeom>
          <a:solidFill>
            <a:srgbClr val="176C55"/>
          </a:solidFill>
          <a:ln w="12700">
            <a:solidFill>
              <a:srgbClr val="176C55">
                <a:alpha val="0"/>
              </a:srgbClr>
            </a:solidFill>
            <a:prstDash val="solid"/>
          </a:ln>
        </p:spPr>
      </p:sp>
      <p:sp>
        <p:nvSpPr>
          <p:cNvPr id="18" name="Text 16"/>
          <p:cNvSpPr txBox="1"/>
          <p:nvPr/>
        </p:nvSpPr>
        <p:spPr>
          <a:xfrm>
            <a:off x="960120" y="3172968"/>
            <a:ext cx="3383280" cy="201168"/>
          </a:xfrm>
          <a:prstGeom prst="rect">
            <a:avLst/>
          </a:prstGeom>
          <a:noFill/>
          <a:ln/>
        </p:spPr>
        <p:txBody>
          <a:bodyPr wrap="square" lIns="0" tIns="0" rIns="0" bIns="0" rtlCol="0" anchor="ctr"/>
          <a:lstStyle/>
          <a:p>
            <a:pPr indent="0" marL="0">
              <a:buNone/>
            </a:pPr>
            <a:r>
              <a:rPr lang="en-US" sz="1600" b="1" dirty="0">
                <a:solidFill>
                  <a:srgbClr val="102E2E"/>
                </a:solidFill>
                <a:latin typeface="Calibri" pitchFamily="34" charset="0"/>
                <a:ea typeface="Calibri" pitchFamily="34" charset="-122"/>
                <a:cs typeface="Calibri" pitchFamily="34" charset="-120"/>
              </a:rPr>
              <a:t>Own GPU servers</a:t>
            </a:r>
            <a:endParaRPr lang="en-US" sz="1600" dirty="0"/>
          </a:p>
        </p:txBody>
      </p:sp>
      <p:sp>
        <p:nvSpPr>
          <p:cNvPr id="19" name="Text 17"/>
          <p:cNvSpPr txBox="1"/>
          <p:nvPr/>
        </p:nvSpPr>
        <p:spPr>
          <a:xfrm>
            <a:off x="960120" y="3374136"/>
            <a:ext cx="3383280" cy="155448"/>
          </a:xfrm>
          <a:prstGeom prst="rect">
            <a:avLst/>
          </a:prstGeom>
          <a:noFill/>
          <a:ln/>
        </p:spPr>
        <p:txBody>
          <a:bodyPr wrap="square" lIns="0" tIns="0" rIns="0" bIns="0" rtlCol="0" anchor="ctr"/>
          <a:lstStyle/>
          <a:p>
            <a:pPr indent="0" marL="0">
              <a:buNone/>
            </a:pPr>
            <a:r>
              <a:rPr lang="en-US" sz="1250" dirty="0">
                <a:solidFill>
                  <a:srgbClr val="526661"/>
                </a:solidFill>
                <a:latin typeface="Calibri" pitchFamily="34" charset="0"/>
                <a:ea typeface="Calibri" pitchFamily="34" charset="-122"/>
                <a:cs typeface="Calibri" pitchFamily="34" charset="-120"/>
              </a:rPr>
              <a:t>Qwen · Llama · gpt-oss</a:t>
            </a:r>
            <a:endParaRPr lang="en-US" sz="1250" dirty="0"/>
          </a:p>
        </p:txBody>
      </p:sp>
      <p:sp>
        <p:nvSpPr>
          <p:cNvPr id="20" name="Shape 18"/>
          <p:cNvSpPr/>
          <p:nvPr/>
        </p:nvSpPr>
        <p:spPr>
          <a:xfrm>
            <a:off x="786384" y="3602736"/>
            <a:ext cx="68580" cy="68580"/>
          </a:xfrm>
          <a:prstGeom prst="ellipse">
            <a:avLst/>
          </a:prstGeom>
          <a:solidFill>
            <a:srgbClr val="176C55"/>
          </a:solidFill>
          <a:ln w="12700">
            <a:solidFill>
              <a:srgbClr val="176C55">
                <a:alpha val="0"/>
              </a:srgbClr>
            </a:solidFill>
            <a:prstDash val="solid"/>
          </a:ln>
        </p:spPr>
      </p:sp>
      <p:sp>
        <p:nvSpPr>
          <p:cNvPr id="21" name="Text 19"/>
          <p:cNvSpPr txBox="1"/>
          <p:nvPr/>
        </p:nvSpPr>
        <p:spPr>
          <a:xfrm>
            <a:off x="960120" y="3547872"/>
            <a:ext cx="3383280" cy="201168"/>
          </a:xfrm>
          <a:prstGeom prst="rect">
            <a:avLst/>
          </a:prstGeom>
          <a:noFill/>
          <a:ln/>
        </p:spPr>
        <p:txBody>
          <a:bodyPr wrap="square" lIns="0" tIns="0" rIns="0" bIns="0" rtlCol="0" anchor="ctr"/>
          <a:lstStyle/>
          <a:p>
            <a:pPr indent="0" marL="0">
              <a:buNone/>
            </a:pPr>
            <a:r>
              <a:rPr lang="en-US" sz="1600" b="1" dirty="0">
                <a:solidFill>
                  <a:srgbClr val="102E2E"/>
                </a:solidFill>
                <a:latin typeface="Calibri" pitchFamily="34" charset="0"/>
                <a:ea typeface="Calibri" pitchFamily="34" charset="-122"/>
                <a:cs typeface="Calibri" pitchFamily="34" charset="-120"/>
              </a:rPr>
              <a:t>OpenAI-compatible API</a:t>
            </a:r>
            <a:endParaRPr lang="en-US" sz="1600" dirty="0"/>
          </a:p>
        </p:txBody>
      </p:sp>
      <p:sp>
        <p:nvSpPr>
          <p:cNvPr id="22" name="Text 20"/>
          <p:cNvSpPr txBox="1"/>
          <p:nvPr/>
        </p:nvSpPr>
        <p:spPr>
          <a:xfrm>
            <a:off x="960120" y="3749040"/>
            <a:ext cx="3383280" cy="155448"/>
          </a:xfrm>
          <a:prstGeom prst="rect">
            <a:avLst/>
          </a:prstGeom>
          <a:noFill/>
          <a:ln/>
        </p:spPr>
        <p:txBody>
          <a:bodyPr wrap="square" lIns="0" tIns="0" rIns="0" bIns="0" rtlCol="0" anchor="ctr"/>
          <a:lstStyle/>
          <a:p>
            <a:pPr indent="0" marL="0">
              <a:buNone/>
            </a:pPr>
            <a:r>
              <a:rPr lang="en-US" sz="1250" dirty="0">
                <a:solidFill>
                  <a:srgbClr val="526661"/>
                </a:solidFill>
                <a:latin typeface="Calibri" pitchFamily="34" charset="0"/>
                <a:ea typeface="Calibri" pitchFamily="34" charset="-122"/>
                <a:cs typeface="Calibri" pitchFamily="34" charset="-120"/>
              </a:rPr>
              <a:t>Billed per million tokens</a:t>
            </a:r>
            <a:endParaRPr lang="en-US" sz="1250" dirty="0"/>
          </a:p>
        </p:txBody>
      </p:sp>
      <p:sp>
        <p:nvSpPr>
          <p:cNvPr id="23" name="Shape 21"/>
          <p:cNvSpPr/>
          <p:nvPr/>
        </p:nvSpPr>
        <p:spPr>
          <a:xfrm>
            <a:off x="786384" y="3977640"/>
            <a:ext cx="68580" cy="68580"/>
          </a:xfrm>
          <a:prstGeom prst="ellipse">
            <a:avLst/>
          </a:prstGeom>
          <a:solidFill>
            <a:srgbClr val="176C55"/>
          </a:solidFill>
          <a:ln w="12700">
            <a:solidFill>
              <a:srgbClr val="176C55">
                <a:alpha val="0"/>
              </a:srgbClr>
            </a:solidFill>
            <a:prstDash val="solid"/>
          </a:ln>
        </p:spPr>
      </p:sp>
      <p:sp>
        <p:nvSpPr>
          <p:cNvPr id="24" name="Text 22"/>
          <p:cNvSpPr txBox="1"/>
          <p:nvPr/>
        </p:nvSpPr>
        <p:spPr>
          <a:xfrm>
            <a:off x="960120" y="3922776"/>
            <a:ext cx="3383280" cy="201168"/>
          </a:xfrm>
          <a:prstGeom prst="rect">
            <a:avLst/>
          </a:prstGeom>
          <a:noFill/>
          <a:ln/>
        </p:spPr>
        <p:txBody>
          <a:bodyPr wrap="square" lIns="0" tIns="0" rIns="0" bIns="0" rtlCol="0" anchor="ctr"/>
          <a:lstStyle/>
          <a:p>
            <a:pPr indent="0" marL="0">
              <a:buNone/>
            </a:pPr>
            <a:r>
              <a:rPr lang="en-US" sz="1600" b="1" dirty="0">
                <a:solidFill>
                  <a:srgbClr val="102E2E"/>
                </a:solidFill>
                <a:latin typeface="Calibri" pitchFamily="34" charset="0"/>
                <a:ea typeface="Calibri" pitchFamily="34" charset="-122"/>
                <a:cs typeface="Calibri" pitchFamily="34" charset="-120"/>
              </a:rPr>
              <a:t>Algerian developers &amp; businesses</a:t>
            </a:r>
            <a:endParaRPr lang="en-US" sz="1600" dirty="0"/>
          </a:p>
        </p:txBody>
      </p:sp>
      <p:sp>
        <p:nvSpPr>
          <p:cNvPr id="25" name="Text 23"/>
          <p:cNvSpPr txBox="1"/>
          <p:nvPr/>
        </p:nvSpPr>
        <p:spPr>
          <a:xfrm>
            <a:off x="960120" y="4123944"/>
            <a:ext cx="3383280" cy="155448"/>
          </a:xfrm>
          <a:prstGeom prst="rect">
            <a:avLst/>
          </a:prstGeom>
          <a:noFill/>
          <a:ln/>
        </p:spPr>
        <p:txBody>
          <a:bodyPr wrap="square" lIns="0" tIns="0" rIns="0" bIns="0" rtlCol="0" anchor="ctr"/>
          <a:lstStyle/>
          <a:p>
            <a:pPr indent="0" marL="0">
              <a:buNone/>
            </a:pPr>
            <a:r>
              <a:rPr lang="en-US" sz="1250" dirty="0">
                <a:solidFill>
                  <a:srgbClr val="526661"/>
                </a:solidFill>
                <a:latin typeface="Calibri" pitchFamily="34" charset="0"/>
                <a:ea typeface="Calibri" pitchFamily="34" charset="-122"/>
                <a:cs typeface="Calibri" pitchFamily="34" charset="-120"/>
              </a:rPr>
              <a:t>Local payment; no foreign card needed</a:t>
            </a:r>
            <a:endParaRPr lang="en-US" sz="1250" dirty="0"/>
          </a:p>
        </p:txBody>
      </p:sp>
      <p:sp>
        <p:nvSpPr>
          <p:cNvPr id="26" name="Shape 24"/>
          <p:cNvSpPr/>
          <p:nvPr/>
        </p:nvSpPr>
        <p:spPr>
          <a:xfrm>
            <a:off x="4919472" y="1965960"/>
            <a:ext cx="6720840" cy="2578608"/>
          </a:xfrm>
          <a:prstGeom prst="roundRect">
            <a:avLst>
              <a:gd name="adj" fmla="val 7092"/>
            </a:avLst>
          </a:prstGeom>
          <a:solidFill>
            <a:srgbClr val="102E2E"/>
          </a:solidFill>
          <a:ln w="12700">
            <a:solidFill>
              <a:srgbClr val="102E2E">
                <a:alpha val="0"/>
              </a:srgbClr>
            </a:solidFill>
            <a:prstDash val="solid"/>
          </a:ln>
        </p:spPr>
      </p:sp>
      <p:sp>
        <p:nvSpPr>
          <p:cNvPr id="27" name="Text 25"/>
          <p:cNvSpPr txBox="1"/>
          <p:nvPr/>
        </p:nvSpPr>
        <p:spPr>
          <a:xfrm>
            <a:off x="5193792" y="2212848"/>
            <a:ext cx="6126480" cy="201168"/>
          </a:xfrm>
          <a:prstGeom prst="rect">
            <a:avLst/>
          </a:prstGeom>
          <a:noFill/>
          <a:ln/>
        </p:spPr>
        <p:txBody>
          <a:bodyPr wrap="square" lIns="0" tIns="0" rIns="0" bIns="0" rtlCol="0" anchor="ctr"/>
          <a:lstStyle/>
          <a:p>
            <a:pPr indent="0" marL="0">
              <a:buNone/>
            </a:pPr>
            <a:r>
              <a:rPr lang="en-US" sz="1100" b="1" spc="160" kern="0" dirty="0">
                <a:solidFill>
                  <a:srgbClr val="BDFADE"/>
                </a:solidFill>
                <a:latin typeface="Calibri" pitchFamily="34" charset="0"/>
                <a:ea typeface="Calibri" pitchFamily="34" charset="-122"/>
                <a:cs typeface="Calibri" pitchFamily="34" charset="-120"/>
              </a:rPr>
              <a:t>FROM REQUEST TO REVENUE</a:t>
            </a:r>
            <a:endParaRPr lang="en-US" sz="1100" dirty="0"/>
          </a:p>
        </p:txBody>
      </p:sp>
      <p:sp>
        <p:nvSpPr>
          <p:cNvPr id="28" name="Shape 26"/>
          <p:cNvSpPr/>
          <p:nvPr/>
        </p:nvSpPr>
        <p:spPr>
          <a:xfrm>
            <a:off x="5330952" y="2697480"/>
            <a:ext cx="667512" cy="667512"/>
          </a:xfrm>
          <a:prstGeom prst="roundRect">
            <a:avLst>
              <a:gd name="adj" fmla="val 17808"/>
            </a:avLst>
          </a:prstGeom>
          <a:solidFill>
            <a:srgbClr val="244543"/>
          </a:solidFill>
          <a:ln w="12700">
            <a:solidFill>
              <a:srgbClr val="244543">
                <a:alpha val="0"/>
              </a:srgbClr>
            </a:solidFill>
            <a:prstDash val="solid"/>
          </a:ln>
        </p:spPr>
      </p:sp>
      <p:pic>
        <p:nvPicPr>
          <p:cNvPr id="29" name="Image 0" descr="people icon">    </p:cNvPr>
          <p:cNvPicPr>
            <a:picLocks noChangeAspect="1"/>
          </p:cNvPicPr>
          <p:nvPr/>
        </p:nvPicPr>
        <p:blipFill>
          <a:blip r:embed="rId1"/>
          <a:stretch>
            <a:fillRect/>
          </a:stretch>
        </p:blipFill>
        <p:spPr>
          <a:xfrm>
            <a:off x="5477256" y="2843784"/>
            <a:ext cx="365760" cy="365760"/>
          </a:xfrm>
          <a:prstGeom prst="rect">
            <a:avLst/>
          </a:prstGeom>
        </p:spPr>
      </p:pic>
      <p:sp>
        <p:nvSpPr>
          <p:cNvPr id="30" name="Text 27"/>
          <p:cNvSpPr txBox="1"/>
          <p:nvPr/>
        </p:nvSpPr>
        <p:spPr>
          <a:xfrm>
            <a:off x="5111496" y="3547872"/>
            <a:ext cx="1115568" cy="21945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Client</a:t>
            </a:r>
            <a:endParaRPr lang="en-US" sz="1500" dirty="0"/>
          </a:p>
        </p:txBody>
      </p:sp>
      <p:sp>
        <p:nvSpPr>
          <p:cNvPr id="31" name="Shape 28"/>
          <p:cNvSpPr/>
          <p:nvPr/>
        </p:nvSpPr>
        <p:spPr>
          <a:xfrm>
            <a:off x="6208776" y="3026664"/>
            <a:ext cx="457200" cy="0"/>
          </a:xfrm>
          <a:prstGeom prst="line">
            <a:avLst/>
          </a:prstGeom>
          <a:noFill/>
          <a:ln w="19050">
            <a:solidFill>
              <a:srgbClr val="8CA59C"/>
            </a:solidFill>
            <a:prstDash val="solid"/>
            <a:headEnd type="none"/>
            <a:tailEnd type="triangle"/>
          </a:ln>
        </p:spPr>
      </p:sp>
      <p:sp>
        <p:nvSpPr>
          <p:cNvPr id="32" name="Shape 29"/>
          <p:cNvSpPr/>
          <p:nvPr/>
        </p:nvSpPr>
        <p:spPr>
          <a:xfrm>
            <a:off x="6876288" y="2697480"/>
            <a:ext cx="667512" cy="667512"/>
          </a:xfrm>
          <a:prstGeom prst="roundRect">
            <a:avLst>
              <a:gd name="adj" fmla="val 17808"/>
            </a:avLst>
          </a:prstGeom>
          <a:solidFill>
            <a:srgbClr val="244543"/>
          </a:solidFill>
          <a:ln w="12700">
            <a:solidFill>
              <a:srgbClr val="244543">
                <a:alpha val="0"/>
              </a:srgbClr>
            </a:solidFill>
            <a:prstDash val="solid"/>
          </a:ln>
        </p:spPr>
      </p:sp>
      <p:pic>
        <p:nvPicPr>
          <p:cNvPr id="33" name="Image 1" descr="api icon">    </p:cNvPr>
          <p:cNvPicPr>
            <a:picLocks noChangeAspect="1"/>
          </p:cNvPicPr>
          <p:nvPr/>
        </p:nvPicPr>
        <p:blipFill>
          <a:blip r:embed="rId2"/>
          <a:stretch>
            <a:fillRect/>
          </a:stretch>
        </p:blipFill>
        <p:spPr>
          <a:xfrm>
            <a:off x="7022592" y="2843784"/>
            <a:ext cx="365760" cy="365760"/>
          </a:xfrm>
          <a:prstGeom prst="rect">
            <a:avLst/>
          </a:prstGeom>
        </p:spPr>
      </p:pic>
      <p:sp>
        <p:nvSpPr>
          <p:cNvPr id="34" name="Text 30"/>
          <p:cNvSpPr txBox="1"/>
          <p:nvPr/>
        </p:nvSpPr>
        <p:spPr>
          <a:xfrm>
            <a:off x="6656832" y="3547872"/>
            <a:ext cx="1115568" cy="21945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API gateway</a:t>
            </a:r>
            <a:endParaRPr lang="en-US" sz="1500" dirty="0"/>
          </a:p>
        </p:txBody>
      </p:sp>
      <p:sp>
        <p:nvSpPr>
          <p:cNvPr id="35" name="Shape 31"/>
          <p:cNvSpPr/>
          <p:nvPr/>
        </p:nvSpPr>
        <p:spPr>
          <a:xfrm>
            <a:off x="7754112" y="3026664"/>
            <a:ext cx="457200" cy="0"/>
          </a:xfrm>
          <a:prstGeom prst="line">
            <a:avLst/>
          </a:prstGeom>
          <a:noFill/>
          <a:ln w="19050">
            <a:solidFill>
              <a:srgbClr val="8CA59C"/>
            </a:solidFill>
            <a:prstDash val="solid"/>
            <a:headEnd type="none"/>
            <a:tailEnd type="triangle"/>
          </a:ln>
        </p:spPr>
      </p:sp>
      <p:sp>
        <p:nvSpPr>
          <p:cNvPr id="36" name="!!TokenCore"/>
          <p:cNvSpPr/>
          <p:nvPr/>
        </p:nvSpPr>
        <p:spPr>
          <a:xfrm>
            <a:off x="8453628" y="2665476"/>
            <a:ext cx="731520" cy="731520"/>
          </a:xfrm>
          <a:prstGeom prst="ellipse">
            <a:avLst/>
          </a:prstGeom>
          <a:solidFill>
            <a:srgbClr val="BDFADE"/>
          </a:solidFill>
          <a:ln w="12700">
            <a:solidFill>
              <a:srgbClr val="BDFADE">
                <a:alpha val="0"/>
              </a:srgbClr>
            </a:solidFill>
            <a:prstDash val="solid"/>
          </a:ln>
        </p:spPr>
      </p:sp>
      <p:sp>
        <p:nvSpPr>
          <p:cNvPr id="37" name="!!GpuCore"/>
          <p:cNvSpPr/>
          <p:nvPr/>
        </p:nvSpPr>
        <p:spPr>
          <a:xfrm>
            <a:off x="8687714" y="2899562"/>
            <a:ext cx="263347" cy="263347"/>
          </a:xfrm>
          <a:prstGeom prst="roundRect">
            <a:avLst>
              <a:gd name="adj" fmla="val 12153"/>
            </a:avLst>
          </a:prstGeom>
          <a:solidFill>
            <a:srgbClr val="102E2E"/>
          </a:solidFill>
          <a:ln w="12700">
            <a:solidFill>
              <a:srgbClr val="102E2E">
                <a:alpha val="0"/>
              </a:srgbClr>
            </a:solidFill>
            <a:prstDash val="solid"/>
          </a:ln>
        </p:spPr>
      </p:sp>
      <p:sp>
        <p:nvSpPr>
          <p:cNvPr id="38" name="Shape 34"/>
          <p:cNvSpPr/>
          <p:nvPr/>
        </p:nvSpPr>
        <p:spPr>
          <a:xfrm>
            <a:off x="8731606" y="2819095"/>
            <a:ext cx="0" cy="73152"/>
          </a:xfrm>
          <a:prstGeom prst="line">
            <a:avLst/>
          </a:prstGeom>
          <a:noFill/>
          <a:ln w="13970">
            <a:solidFill>
              <a:srgbClr val="102E2E"/>
            </a:solidFill>
            <a:prstDash val="solid"/>
          </a:ln>
        </p:spPr>
      </p:sp>
      <p:sp>
        <p:nvSpPr>
          <p:cNvPr id="39" name="Shape 35"/>
          <p:cNvSpPr/>
          <p:nvPr/>
        </p:nvSpPr>
        <p:spPr>
          <a:xfrm>
            <a:off x="8731606" y="3170225"/>
            <a:ext cx="0" cy="73152"/>
          </a:xfrm>
          <a:prstGeom prst="line">
            <a:avLst/>
          </a:prstGeom>
          <a:noFill/>
          <a:ln w="13970">
            <a:solidFill>
              <a:srgbClr val="102E2E"/>
            </a:solidFill>
            <a:prstDash val="solid"/>
          </a:ln>
        </p:spPr>
      </p:sp>
      <p:sp>
        <p:nvSpPr>
          <p:cNvPr id="40" name="Shape 36"/>
          <p:cNvSpPr/>
          <p:nvPr/>
        </p:nvSpPr>
        <p:spPr>
          <a:xfrm>
            <a:off x="8607247" y="2943454"/>
            <a:ext cx="73152" cy="0"/>
          </a:xfrm>
          <a:prstGeom prst="line">
            <a:avLst/>
          </a:prstGeom>
          <a:noFill/>
          <a:ln w="13970">
            <a:solidFill>
              <a:srgbClr val="102E2E"/>
            </a:solidFill>
            <a:prstDash val="solid"/>
          </a:ln>
        </p:spPr>
      </p:sp>
      <p:sp>
        <p:nvSpPr>
          <p:cNvPr id="41" name="Shape 37"/>
          <p:cNvSpPr/>
          <p:nvPr/>
        </p:nvSpPr>
        <p:spPr>
          <a:xfrm>
            <a:off x="8958377" y="2943454"/>
            <a:ext cx="73152" cy="0"/>
          </a:xfrm>
          <a:prstGeom prst="line">
            <a:avLst/>
          </a:prstGeom>
          <a:noFill/>
          <a:ln w="13970">
            <a:solidFill>
              <a:srgbClr val="102E2E"/>
            </a:solidFill>
            <a:prstDash val="solid"/>
          </a:ln>
        </p:spPr>
      </p:sp>
      <p:sp>
        <p:nvSpPr>
          <p:cNvPr id="42" name="Shape 38"/>
          <p:cNvSpPr/>
          <p:nvPr/>
        </p:nvSpPr>
        <p:spPr>
          <a:xfrm>
            <a:off x="8819388" y="2819095"/>
            <a:ext cx="0" cy="73152"/>
          </a:xfrm>
          <a:prstGeom prst="line">
            <a:avLst/>
          </a:prstGeom>
          <a:noFill/>
          <a:ln w="13970">
            <a:solidFill>
              <a:srgbClr val="102E2E"/>
            </a:solidFill>
            <a:prstDash val="solid"/>
          </a:ln>
        </p:spPr>
      </p:sp>
      <p:sp>
        <p:nvSpPr>
          <p:cNvPr id="43" name="Shape 39"/>
          <p:cNvSpPr/>
          <p:nvPr/>
        </p:nvSpPr>
        <p:spPr>
          <a:xfrm>
            <a:off x="8819388" y="3170225"/>
            <a:ext cx="0" cy="73152"/>
          </a:xfrm>
          <a:prstGeom prst="line">
            <a:avLst/>
          </a:prstGeom>
          <a:noFill/>
          <a:ln w="13970">
            <a:solidFill>
              <a:srgbClr val="102E2E"/>
            </a:solidFill>
            <a:prstDash val="solid"/>
          </a:ln>
        </p:spPr>
      </p:sp>
      <p:sp>
        <p:nvSpPr>
          <p:cNvPr id="44" name="Shape 40"/>
          <p:cNvSpPr/>
          <p:nvPr/>
        </p:nvSpPr>
        <p:spPr>
          <a:xfrm>
            <a:off x="8607247" y="3031236"/>
            <a:ext cx="73152" cy="0"/>
          </a:xfrm>
          <a:prstGeom prst="line">
            <a:avLst/>
          </a:prstGeom>
          <a:noFill/>
          <a:ln w="13970">
            <a:solidFill>
              <a:srgbClr val="102E2E"/>
            </a:solidFill>
            <a:prstDash val="solid"/>
          </a:ln>
        </p:spPr>
      </p:sp>
      <p:sp>
        <p:nvSpPr>
          <p:cNvPr id="45" name="Shape 41"/>
          <p:cNvSpPr/>
          <p:nvPr/>
        </p:nvSpPr>
        <p:spPr>
          <a:xfrm>
            <a:off x="8958377" y="3031236"/>
            <a:ext cx="73152" cy="0"/>
          </a:xfrm>
          <a:prstGeom prst="line">
            <a:avLst/>
          </a:prstGeom>
          <a:noFill/>
          <a:ln w="13970">
            <a:solidFill>
              <a:srgbClr val="102E2E"/>
            </a:solidFill>
            <a:prstDash val="solid"/>
          </a:ln>
        </p:spPr>
      </p:sp>
      <p:sp>
        <p:nvSpPr>
          <p:cNvPr id="46" name="Shape 42"/>
          <p:cNvSpPr/>
          <p:nvPr/>
        </p:nvSpPr>
        <p:spPr>
          <a:xfrm>
            <a:off x="8907170" y="2819095"/>
            <a:ext cx="0" cy="73152"/>
          </a:xfrm>
          <a:prstGeom prst="line">
            <a:avLst/>
          </a:prstGeom>
          <a:noFill/>
          <a:ln w="13970">
            <a:solidFill>
              <a:srgbClr val="102E2E"/>
            </a:solidFill>
            <a:prstDash val="solid"/>
          </a:ln>
        </p:spPr>
      </p:sp>
      <p:sp>
        <p:nvSpPr>
          <p:cNvPr id="47" name="Shape 43"/>
          <p:cNvSpPr/>
          <p:nvPr/>
        </p:nvSpPr>
        <p:spPr>
          <a:xfrm>
            <a:off x="8907170" y="3170225"/>
            <a:ext cx="0" cy="73152"/>
          </a:xfrm>
          <a:prstGeom prst="line">
            <a:avLst/>
          </a:prstGeom>
          <a:noFill/>
          <a:ln w="13970">
            <a:solidFill>
              <a:srgbClr val="102E2E"/>
            </a:solidFill>
            <a:prstDash val="solid"/>
          </a:ln>
        </p:spPr>
      </p:sp>
      <p:sp>
        <p:nvSpPr>
          <p:cNvPr id="48" name="Shape 44"/>
          <p:cNvSpPr/>
          <p:nvPr/>
        </p:nvSpPr>
        <p:spPr>
          <a:xfrm>
            <a:off x="8607247" y="3119018"/>
            <a:ext cx="73152" cy="0"/>
          </a:xfrm>
          <a:prstGeom prst="line">
            <a:avLst/>
          </a:prstGeom>
          <a:noFill/>
          <a:ln w="13970">
            <a:solidFill>
              <a:srgbClr val="102E2E"/>
            </a:solidFill>
            <a:prstDash val="solid"/>
          </a:ln>
        </p:spPr>
      </p:sp>
      <p:sp>
        <p:nvSpPr>
          <p:cNvPr id="49" name="Shape 45"/>
          <p:cNvSpPr/>
          <p:nvPr/>
        </p:nvSpPr>
        <p:spPr>
          <a:xfrm>
            <a:off x="8958377" y="3119018"/>
            <a:ext cx="73152" cy="0"/>
          </a:xfrm>
          <a:prstGeom prst="line">
            <a:avLst/>
          </a:prstGeom>
          <a:noFill/>
          <a:ln w="13970">
            <a:solidFill>
              <a:srgbClr val="102E2E"/>
            </a:solidFill>
            <a:prstDash val="solid"/>
          </a:ln>
        </p:spPr>
      </p:sp>
      <p:sp>
        <p:nvSpPr>
          <p:cNvPr id="50" name="Text 46"/>
          <p:cNvSpPr txBox="1"/>
          <p:nvPr/>
        </p:nvSpPr>
        <p:spPr>
          <a:xfrm>
            <a:off x="8266176" y="3547872"/>
            <a:ext cx="1115568" cy="21945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GPU model</a:t>
            </a:r>
            <a:endParaRPr lang="en-US" sz="1500" dirty="0"/>
          </a:p>
        </p:txBody>
      </p:sp>
      <p:sp>
        <p:nvSpPr>
          <p:cNvPr id="51" name="Shape 47"/>
          <p:cNvSpPr/>
          <p:nvPr/>
        </p:nvSpPr>
        <p:spPr>
          <a:xfrm>
            <a:off x="9363456" y="3026664"/>
            <a:ext cx="457200" cy="0"/>
          </a:xfrm>
          <a:prstGeom prst="line">
            <a:avLst/>
          </a:prstGeom>
          <a:noFill/>
          <a:ln w="19050">
            <a:solidFill>
              <a:srgbClr val="8CA59C"/>
            </a:solidFill>
            <a:prstDash val="solid"/>
            <a:headEnd type="none"/>
            <a:tailEnd type="triangle"/>
          </a:ln>
        </p:spPr>
      </p:sp>
      <p:sp>
        <p:nvSpPr>
          <p:cNvPr id="52" name="Shape 48"/>
          <p:cNvSpPr/>
          <p:nvPr/>
        </p:nvSpPr>
        <p:spPr>
          <a:xfrm>
            <a:off x="10222992" y="2697480"/>
            <a:ext cx="667512" cy="667512"/>
          </a:xfrm>
          <a:prstGeom prst="roundRect">
            <a:avLst>
              <a:gd name="adj" fmla="val 17808"/>
            </a:avLst>
          </a:prstGeom>
          <a:solidFill>
            <a:srgbClr val="244543"/>
          </a:solidFill>
          <a:ln w="12700">
            <a:solidFill>
              <a:srgbClr val="244543">
                <a:alpha val="0"/>
              </a:srgbClr>
            </a:solidFill>
            <a:prstDash val="solid"/>
          </a:ln>
        </p:spPr>
      </p:sp>
      <p:pic>
        <p:nvPicPr>
          <p:cNvPr id="53" name="Image 2" descr="invoice icon">    </p:cNvPr>
          <p:cNvPicPr>
            <a:picLocks noChangeAspect="1"/>
          </p:cNvPicPr>
          <p:nvPr/>
        </p:nvPicPr>
        <p:blipFill>
          <a:blip r:embed="rId3"/>
          <a:stretch>
            <a:fillRect/>
          </a:stretch>
        </p:blipFill>
        <p:spPr>
          <a:xfrm>
            <a:off x="10369296" y="2843784"/>
            <a:ext cx="365760" cy="365760"/>
          </a:xfrm>
          <a:prstGeom prst="rect">
            <a:avLst/>
          </a:prstGeom>
        </p:spPr>
      </p:pic>
      <p:sp>
        <p:nvSpPr>
          <p:cNvPr id="54" name="Text 49"/>
          <p:cNvSpPr txBox="1"/>
          <p:nvPr/>
        </p:nvSpPr>
        <p:spPr>
          <a:xfrm>
            <a:off x="10003536" y="3547872"/>
            <a:ext cx="1115568" cy="21945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Invoice</a:t>
            </a:r>
            <a:endParaRPr lang="en-US" sz="1500" dirty="0"/>
          </a:p>
        </p:txBody>
      </p:sp>
      <p:sp>
        <p:nvSpPr>
          <p:cNvPr id="55" name="Text 50"/>
          <p:cNvSpPr txBox="1"/>
          <p:nvPr/>
        </p:nvSpPr>
        <p:spPr>
          <a:xfrm>
            <a:off x="5193792" y="4041648"/>
            <a:ext cx="6163056" cy="228600"/>
          </a:xfrm>
          <a:prstGeom prst="rect">
            <a:avLst/>
          </a:prstGeom>
          <a:noFill/>
          <a:ln/>
        </p:spPr>
        <p:txBody>
          <a:bodyPr wrap="square" lIns="0" tIns="0" rIns="0" bIns="0" rtlCol="0" anchor="ctr"/>
          <a:lstStyle/>
          <a:p>
            <a:pPr indent="0" marL="0">
              <a:buNone/>
            </a:pPr>
            <a:r>
              <a:rPr lang="en-US" sz="1600" dirty="0">
                <a:solidFill>
                  <a:srgbClr val="BDFADE"/>
                </a:solidFill>
                <a:latin typeface="Calibri" pitchFamily="34" charset="0"/>
                <a:ea typeface="Calibri" pitchFamily="34" charset="-122"/>
                <a:cs typeface="Calibri" pitchFamily="34" charset="-120"/>
              </a:rPr>
              <a:t>Revenue = million tokens consumed × price per million</a:t>
            </a:r>
            <a:endParaRPr lang="en-US" sz="1600" dirty="0"/>
          </a:p>
        </p:txBody>
      </p:sp>
      <p:sp>
        <p:nvSpPr>
          <p:cNvPr id="56" name="Text 51"/>
          <p:cNvSpPr txBox="1"/>
          <p:nvPr/>
        </p:nvSpPr>
        <p:spPr>
          <a:xfrm>
            <a:off x="576072" y="4709160"/>
            <a:ext cx="914400" cy="155448"/>
          </a:xfrm>
          <a:prstGeom prst="rect">
            <a:avLst/>
          </a:prstGeom>
          <a:noFill/>
          <a:ln/>
        </p:spPr>
        <p:txBody>
          <a:bodyPr wrap="square" lIns="0" tIns="0" rIns="0" bIns="0" rtlCol="0" anchor="ctr"/>
          <a:lstStyle/>
          <a:p>
            <a:pPr indent="0" marL="0">
              <a:buNone/>
            </a:pPr>
            <a:r>
              <a:rPr lang="en-US" sz="1050" b="1" spc="130" kern="0" dirty="0">
                <a:solidFill>
                  <a:srgbClr val="176C55"/>
                </a:solidFill>
                <a:latin typeface="Calibri" pitchFamily="34" charset="0"/>
                <a:ea typeface="Calibri" pitchFamily="34" charset="-122"/>
                <a:cs typeface="Calibri" pitchFamily="34" charset="-120"/>
              </a:rPr>
              <a:t>ECOSYSTEM</a:t>
            </a:r>
            <a:endParaRPr lang="en-US" sz="1050" dirty="0"/>
          </a:p>
        </p:txBody>
      </p:sp>
      <p:sp>
        <p:nvSpPr>
          <p:cNvPr id="57" name="Text 52"/>
          <p:cNvSpPr txBox="1"/>
          <p:nvPr/>
        </p:nvSpPr>
        <p:spPr>
          <a:xfrm>
            <a:off x="1627632" y="4681728"/>
            <a:ext cx="9966960" cy="219456"/>
          </a:xfrm>
          <a:prstGeom prst="rect">
            <a:avLst/>
          </a:prstGeom>
          <a:noFill/>
          <a:ln/>
        </p:spPr>
        <p:txBody>
          <a:bodyPr wrap="square" lIns="0" tIns="0" rIns="0" bIns="0" rtlCol="0" anchor="ctr"/>
          <a:lstStyle/>
          <a:p>
            <a:pPr indent="0" marL="0">
              <a:buNone/>
            </a:pPr>
            <a:r>
              <a:rPr lang="en-US" sz="1500" dirty="0">
                <a:solidFill>
                  <a:srgbClr val="526661"/>
                </a:solidFill>
                <a:latin typeface="Calibri" pitchFamily="34" charset="0"/>
                <a:ea typeface="Calibri" pitchFamily="34" charset="-122"/>
                <a:cs typeface="Calibri" pitchFamily="34" charset="-120"/>
              </a:rPr>
              <a:t>Clients  ·  Management  ·  GPU / hosting  ·  Payments  ·  Support &amp; engineering</a:t>
            </a:r>
            <a:endParaRPr lang="en-US" sz="1500" dirty="0"/>
          </a:p>
        </p:txBody>
      </p:sp>
      <p:sp>
        <p:nvSpPr>
          <p:cNvPr id="58" name="Shape 53"/>
          <p:cNvSpPr/>
          <p:nvPr/>
        </p:nvSpPr>
        <p:spPr>
          <a:xfrm>
            <a:off x="548640" y="5129784"/>
            <a:ext cx="2633472" cy="996696"/>
          </a:xfrm>
          <a:prstGeom prst="roundRect">
            <a:avLst>
              <a:gd name="adj" fmla="val 13761"/>
            </a:avLst>
          </a:prstGeom>
          <a:solidFill>
            <a:srgbClr val="F2F7F5"/>
          </a:solidFill>
          <a:ln w="12700">
            <a:solidFill>
              <a:srgbClr val="F2F7F5">
                <a:alpha val="0"/>
              </a:srgbClr>
            </a:solidFill>
            <a:prstDash val="solid"/>
          </a:ln>
        </p:spPr>
      </p:sp>
      <p:pic>
        <p:nvPicPr>
          <p:cNvPr id="59" name="Image 3" descr="people icon">    </p:cNvPr>
          <p:cNvPicPr>
            <a:picLocks noChangeAspect="1"/>
          </p:cNvPicPr>
          <p:nvPr/>
        </p:nvPicPr>
        <p:blipFill>
          <a:blip r:embed="rId4"/>
          <a:stretch>
            <a:fillRect/>
          </a:stretch>
        </p:blipFill>
        <p:spPr>
          <a:xfrm>
            <a:off x="713232" y="5303520"/>
            <a:ext cx="246888" cy="246888"/>
          </a:xfrm>
          <a:prstGeom prst="rect">
            <a:avLst/>
          </a:prstGeom>
        </p:spPr>
      </p:pic>
      <p:sp>
        <p:nvSpPr>
          <p:cNvPr id="60" name="Text 54"/>
          <p:cNvSpPr txBox="1"/>
          <p:nvPr/>
        </p:nvSpPr>
        <p:spPr>
          <a:xfrm>
            <a:off x="1078992" y="5285232"/>
            <a:ext cx="1828800" cy="228600"/>
          </a:xfrm>
          <a:prstGeom prst="rect">
            <a:avLst/>
          </a:prstGeom>
          <a:noFill/>
          <a:ln/>
        </p:spPr>
        <p:txBody>
          <a:bodyPr wrap="square" lIns="0" tIns="0" rIns="0" bIns="0" rtlCol="0" anchor="ctr"/>
          <a:lstStyle/>
          <a:p>
            <a:pPr indent="0" marL="0">
              <a:buNone/>
            </a:pPr>
            <a:r>
              <a:rPr lang="en-US" sz="1800" b="1" dirty="0">
                <a:solidFill>
                  <a:srgbClr val="102E2E"/>
                </a:solidFill>
                <a:latin typeface="Calibri" pitchFamily="34" charset="0"/>
                <a:ea typeface="Calibri" pitchFamily="34" charset="-122"/>
                <a:cs typeface="Calibri" pitchFamily="34" charset="-120"/>
              </a:rPr>
              <a:t>Client</a:t>
            </a:r>
            <a:endParaRPr lang="en-US" sz="1800" dirty="0"/>
          </a:p>
        </p:txBody>
      </p:sp>
      <p:sp>
        <p:nvSpPr>
          <p:cNvPr id="61" name="Text 55"/>
          <p:cNvSpPr txBox="1"/>
          <p:nvPr/>
        </p:nvSpPr>
        <p:spPr>
          <a:xfrm>
            <a:off x="722376" y="5614416"/>
            <a:ext cx="2304288" cy="173736"/>
          </a:xfrm>
          <a:prstGeom prst="rect">
            <a:avLst/>
          </a:prstGeom>
          <a:noFill/>
          <a:ln/>
        </p:spPr>
        <p:txBody>
          <a:bodyPr wrap="square" lIns="0" tIns="0" rIns="0" bIns="0" rtlCol="0" anchor="ctr"/>
          <a:lstStyle/>
          <a:p>
            <a:pPr indent="0" marL="0">
              <a:buNone/>
            </a:pPr>
            <a:r>
              <a:rPr lang="en-US" sz="1230" dirty="0">
                <a:solidFill>
                  <a:srgbClr val="526661"/>
                </a:solidFill>
                <a:latin typeface="Calibri" pitchFamily="34" charset="0"/>
                <a:ea typeface="Calibri" pitchFamily="34" charset="-122"/>
                <a:cs typeface="Calibri" pitchFamily="34" charset="-120"/>
              </a:rPr>
              <a:t>Developer · Startup · Enterprise</a:t>
            </a:r>
            <a:endParaRPr lang="en-US" sz="1230" dirty="0"/>
          </a:p>
        </p:txBody>
      </p:sp>
      <p:sp>
        <p:nvSpPr>
          <p:cNvPr id="62" name="Text 56"/>
          <p:cNvSpPr txBox="1"/>
          <p:nvPr/>
        </p:nvSpPr>
        <p:spPr>
          <a:xfrm>
            <a:off x="722376" y="5879592"/>
            <a:ext cx="2286000" cy="146304"/>
          </a:xfrm>
          <a:prstGeom prst="rect">
            <a:avLst/>
          </a:prstGeom>
          <a:noFill/>
          <a:ln/>
        </p:spPr>
        <p:txBody>
          <a:bodyPr wrap="square" lIns="0" tIns="0" rIns="0" bIns="0" rtlCol="0" anchor="ctr"/>
          <a:lstStyle/>
          <a:p>
            <a:pPr indent="0" marL="0">
              <a:buNone/>
            </a:pPr>
            <a:r>
              <a:rPr lang="en-US" sz="1150" b="1" dirty="0">
                <a:solidFill>
                  <a:srgbClr val="176C55"/>
                </a:solidFill>
                <a:latin typeface="Calibri" pitchFamily="34" charset="0"/>
                <a:ea typeface="Calibri" pitchFamily="34" charset="-122"/>
                <a:cs typeface="Calibri" pitchFamily="34" charset="-120"/>
              </a:rPr>
              <a:t>Who buys?</a:t>
            </a:r>
            <a:endParaRPr lang="en-US" sz="1150" dirty="0"/>
          </a:p>
        </p:txBody>
      </p:sp>
      <p:sp>
        <p:nvSpPr>
          <p:cNvPr id="63" name="Shape 57"/>
          <p:cNvSpPr/>
          <p:nvPr/>
        </p:nvSpPr>
        <p:spPr>
          <a:xfrm>
            <a:off x="3374136" y="5129784"/>
            <a:ext cx="2633472" cy="996696"/>
          </a:xfrm>
          <a:prstGeom prst="roundRect">
            <a:avLst>
              <a:gd name="adj" fmla="val 13761"/>
            </a:avLst>
          </a:prstGeom>
          <a:solidFill>
            <a:srgbClr val="F2F7F5"/>
          </a:solidFill>
          <a:ln w="12700">
            <a:solidFill>
              <a:srgbClr val="F2F7F5">
                <a:alpha val="0"/>
              </a:srgbClr>
            </a:solidFill>
            <a:prstDash val="solid"/>
          </a:ln>
        </p:spPr>
      </p:sp>
      <p:pic>
        <p:nvPicPr>
          <p:cNvPr id="64" name="Image 4" descr="chip icon">    </p:cNvPr>
          <p:cNvPicPr>
            <a:picLocks noChangeAspect="1"/>
          </p:cNvPicPr>
          <p:nvPr/>
        </p:nvPicPr>
        <p:blipFill>
          <a:blip r:embed="rId5"/>
          <a:stretch>
            <a:fillRect/>
          </a:stretch>
        </p:blipFill>
        <p:spPr>
          <a:xfrm>
            <a:off x="3538728" y="5303520"/>
            <a:ext cx="246888" cy="246888"/>
          </a:xfrm>
          <a:prstGeom prst="rect">
            <a:avLst/>
          </a:prstGeom>
        </p:spPr>
      </p:pic>
      <p:sp>
        <p:nvSpPr>
          <p:cNvPr id="65" name="Text 58"/>
          <p:cNvSpPr txBox="1"/>
          <p:nvPr/>
        </p:nvSpPr>
        <p:spPr>
          <a:xfrm>
            <a:off x="3904488" y="5285232"/>
            <a:ext cx="1828800" cy="228600"/>
          </a:xfrm>
          <a:prstGeom prst="rect">
            <a:avLst/>
          </a:prstGeom>
          <a:noFill/>
          <a:ln/>
        </p:spPr>
        <p:txBody>
          <a:bodyPr wrap="square" lIns="0" tIns="0" rIns="0" bIns="0" rtlCol="0" anchor="ctr"/>
          <a:lstStyle/>
          <a:p>
            <a:pPr indent="0" marL="0">
              <a:buNone/>
            </a:pPr>
            <a:r>
              <a:rPr lang="en-US" sz="1800" b="1" dirty="0">
                <a:solidFill>
                  <a:srgbClr val="102E2E"/>
                </a:solidFill>
                <a:latin typeface="Calibri" pitchFamily="34" charset="0"/>
                <a:ea typeface="Calibri" pitchFamily="34" charset="-122"/>
                <a:cs typeface="Calibri" pitchFamily="34" charset="-120"/>
              </a:rPr>
              <a:t>Model</a:t>
            </a:r>
            <a:endParaRPr lang="en-US" sz="1800" dirty="0"/>
          </a:p>
        </p:txBody>
      </p:sp>
      <p:sp>
        <p:nvSpPr>
          <p:cNvPr id="66" name="Text 59"/>
          <p:cNvSpPr txBox="1"/>
          <p:nvPr/>
        </p:nvSpPr>
        <p:spPr>
          <a:xfrm>
            <a:off x="3547872" y="5614416"/>
            <a:ext cx="2304288" cy="173736"/>
          </a:xfrm>
          <a:prstGeom prst="rect">
            <a:avLst/>
          </a:prstGeom>
          <a:noFill/>
          <a:ln/>
        </p:spPr>
        <p:txBody>
          <a:bodyPr wrap="square" lIns="0" tIns="0" rIns="0" bIns="0" rtlCol="0" anchor="ctr"/>
          <a:lstStyle/>
          <a:p>
            <a:pPr indent="0" marL="0">
              <a:buNone/>
            </a:pPr>
            <a:r>
              <a:rPr lang="en-US" sz="1230" dirty="0">
                <a:solidFill>
                  <a:srgbClr val="526661"/>
                </a:solidFill>
                <a:latin typeface="Calibri" pitchFamily="34" charset="0"/>
                <a:ea typeface="Calibri" pitchFamily="34" charset="-122"/>
                <a:cs typeface="Calibri" pitchFamily="34" charset="-120"/>
              </a:rPr>
              <a:t>Qwen3 · Coder · Llama</a:t>
            </a:r>
            <a:endParaRPr lang="en-US" sz="1230" dirty="0"/>
          </a:p>
        </p:txBody>
      </p:sp>
      <p:sp>
        <p:nvSpPr>
          <p:cNvPr id="67" name="Text 60"/>
          <p:cNvSpPr txBox="1"/>
          <p:nvPr/>
        </p:nvSpPr>
        <p:spPr>
          <a:xfrm>
            <a:off x="3547872" y="5879592"/>
            <a:ext cx="2286000" cy="146304"/>
          </a:xfrm>
          <a:prstGeom prst="rect">
            <a:avLst/>
          </a:prstGeom>
          <a:noFill/>
          <a:ln/>
        </p:spPr>
        <p:txBody>
          <a:bodyPr wrap="square" lIns="0" tIns="0" rIns="0" bIns="0" rtlCol="0" anchor="ctr"/>
          <a:lstStyle/>
          <a:p>
            <a:pPr indent="0" marL="0">
              <a:buNone/>
            </a:pPr>
            <a:r>
              <a:rPr lang="en-US" sz="1150" b="1" dirty="0">
                <a:solidFill>
                  <a:srgbClr val="176C55"/>
                </a:solidFill>
                <a:latin typeface="Calibri" pitchFamily="34" charset="0"/>
                <a:ea typeface="Calibri" pitchFamily="34" charset="-122"/>
                <a:cs typeface="Calibri" pitchFamily="34" charset="-120"/>
              </a:rPr>
              <a:t>What sells?</a:t>
            </a:r>
            <a:endParaRPr lang="en-US" sz="1150" dirty="0"/>
          </a:p>
        </p:txBody>
      </p:sp>
      <p:sp>
        <p:nvSpPr>
          <p:cNvPr id="68" name="Shape 61"/>
          <p:cNvSpPr/>
          <p:nvPr/>
        </p:nvSpPr>
        <p:spPr>
          <a:xfrm>
            <a:off x="6199632" y="5129784"/>
            <a:ext cx="2633472" cy="996696"/>
          </a:xfrm>
          <a:prstGeom prst="roundRect">
            <a:avLst>
              <a:gd name="adj" fmla="val 13761"/>
            </a:avLst>
          </a:prstGeom>
          <a:solidFill>
            <a:srgbClr val="F2F7F5"/>
          </a:solidFill>
          <a:ln w="12700">
            <a:solidFill>
              <a:srgbClr val="F2F7F5">
                <a:alpha val="0"/>
              </a:srgbClr>
            </a:solidFill>
            <a:prstDash val="solid"/>
          </a:ln>
        </p:spPr>
      </p:sp>
      <p:pic>
        <p:nvPicPr>
          <p:cNvPr id="69" name="Image 5" descr="pin icon">    </p:cNvPr>
          <p:cNvPicPr>
            <a:picLocks noChangeAspect="1"/>
          </p:cNvPicPr>
          <p:nvPr/>
        </p:nvPicPr>
        <p:blipFill>
          <a:blip r:embed="rId6"/>
          <a:stretch>
            <a:fillRect/>
          </a:stretch>
        </p:blipFill>
        <p:spPr>
          <a:xfrm>
            <a:off x="6364224" y="5303520"/>
            <a:ext cx="246888" cy="246888"/>
          </a:xfrm>
          <a:prstGeom prst="rect">
            <a:avLst/>
          </a:prstGeom>
        </p:spPr>
      </p:pic>
      <p:sp>
        <p:nvSpPr>
          <p:cNvPr id="70" name="Text 62"/>
          <p:cNvSpPr txBox="1"/>
          <p:nvPr/>
        </p:nvSpPr>
        <p:spPr>
          <a:xfrm>
            <a:off x="6729984" y="5285232"/>
            <a:ext cx="1828800" cy="228600"/>
          </a:xfrm>
          <a:prstGeom prst="rect">
            <a:avLst/>
          </a:prstGeom>
          <a:noFill/>
          <a:ln/>
        </p:spPr>
        <p:txBody>
          <a:bodyPr wrap="square" lIns="0" tIns="0" rIns="0" bIns="0" rtlCol="0" anchor="ctr"/>
          <a:lstStyle/>
          <a:p>
            <a:pPr indent="0" marL="0">
              <a:buNone/>
            </a:pPr>
            <a:r>
              <a:rPr lang="en-US" sz="1800" b="1" dirty="0">
                <a:solidFill>
                  <a:srgbClr val="102E2E"/>
                </a:solidFill>
                <a:latin typeface="Calibri" pitchFamily="34" charset="0"/>
                <a:ea typeface="Calibri" pitchFamily="34" charset="-122"/>
                <a:cs typeface="Calibri" pitchFamily="34" charset="-120"/>
              </a:rPr>
              <a:t>Region</a:t>
            </a:r>
            <a:endParaRPr lang="en-US" sz="1800" dirty="0"/>
          </a:p>
        </p:txBody>
      </p:sp>
      <p:sp>
        <p:nvSpPr>
          <p:cNvPr id="71" name="Text 63"/>
          <p:cNvSpPr txBox="1"/>
          <p:nvPr/>
        </p:nvSpPr>
        <p:spPr>
          <a:xfrm>
            <a:off x="6373368" y="5614416"/>
            <a:ext cx="2304288" cy="173736"/>
          </a:xfrm>
          <a:prstGeom prst="rect">
            <a:avLst/>
          </a:prstGeom>
          <a:noFill/>
          <a:ln/>
        </p:spPr>
        <p:txBody>
          <a:bodyPr wrap="square" lIns="0" tIns="0" rIns="0" bIns="0" rtlCol="0" anchor="ctr"/>
          <a:lstStyle/>
          <a:p>
            <a:pPr indent="0" marL="0">
              <a:buNone/>
            </a:pPr>
            <a:r>
              <a:rPr lang="en-US" sz="1230" dirty="0">
                <a:solidFill>
                  <a:srgbClr val="526661"/>
                </a:solidFill>
                <a:latin typeface="Calibri" pitchFamily="34" charset="0"/>
                <a:ea typeface="Calibri" pitchFamily="34" charset="-122"/>
                <a:cs typeface="Calibri" pitchFamily="34" charset="-120"/>
              </a:rPr>
              <a:t>Alger · Oran · Constantine +</a:t>
            </a:r>
            <a:endParaRPr lang="en-US" sz="1230" dirty="0"/>
          </a:p>
        </p:txBody>
      </p:sp>
      <p:sp>
        <p:nvSpPr>
          <p:cNvPr id="72" name="Text 64"/>
          <p:cNvSpPr txBox="1"/>
          <p:nvPr/>
        </p:nvSpPr>
        <p:spPr>
          <a:xfrm>
            <a:off x="6373368" y="5879592"/>
            <a:ext cx="2286000" cy="146304"/>
          </a:xfrm>
          <a:prstGeom prst="rect">
            <a:avLst/>
          </a:prstGeom>
          <a:noFill/>
          <a:ln/>
        </p:spPr>
        <p:txBody>
          <a:bodyPr wrap="square" lIns="0" tIns="0" rIns="0" bIns="0" rtlCol="0" anchor="ctr"/>
          <a:lstStyle/>
          <a:p>
            <a:pPr indent="0" marL="0">
              <a:buNone/>
            </a:pPr>
            <a:r>
              <a:rPr lang="en-US" sz="1150" b="1" dirty="0">
                <a:solidFill>
                  <a:srgbClr val="176C55"/>
                </a:solidFill>
                <a:latin typeface="Calibri" pitchFamily="34" charset="0"/>
                <a:ea typeface="Calibri" pitchFamily="34" charset="-122"/>
                <a:cs typeface="Calibri" pitchFamily="34" charset="-120"/>
              </a:rPr>
              <a:t>Where from?</a:t>
            </a:r>
            <a:endParaRPr lang="en-US" sz="1150" dirty="0"/>
          </a:p>
        </p:txBody>
      </p:sp>
      <p:sp>
        <p:nvSpPr>
          <p:cNvPr id="73" name="Shape 65"/>
          <p:cNvSpPr/>
          <p:nvPr/>
        </p:nvSpPr>
        <p:spPr>
          <a:xfrm>
            <a:off x="9025128" y="5129784"/>
            <a:ext cx="2633472" cy="996696"/>
          </a:xfrm>
          <a:prstGeom prst="roundRect">
            <a:avLst>
              <a:gd name="adj" fmla="val 13761"/>
            </a:avLst>
          </a:prstGeom>
          <a:solidFill>
            <a:srgbClr val="F2F7F5"/>
          </a:solidFill>
          <a:ln w="12700">
            <a:solidFill>
              <a:srgbClr val="F2F7F5">
                <a:alpha val="0"/>
              </a:srgbClr>
            </a:solidFill>
            <a:prstDash val="solid"/>
          </a:ln>
        </p:spPr>
      </p:sp>
      <p:pic>
        <p:nvPicPr>
          <p:cNvPr id="74" name="Image 6" descr="time icon">    </p:cNvPr>
          <p:cNvPicPr>
            <a:picLocks noChangeAspect="1"/>
          </p:cNvPicPr>
          <p:nvPr/>
        </p:nvPicPr>
        <p:blipFill>
          <a:blip r:embed="rId7"/>
          <a:stretch>
            <a:fillRect/>
          </a:stretch>
        </p:blipFill>
        <p:spPr>
          <a:xfrm>
            <a:off x="9189720" y="5303520"/>
            <a:ext cx="246888" cy="246888"/>
          </a:xfrm>
          <a:prstGeom prst="rect">
            <a:avLst/>
          </a:prstGeom>
        </p:spPr>
      </p:pic>
      <p:sp>
        <p:nvSpPr>
          <p:cNvPr id="75" name="Text 66"/>
          <p:cNvSpPr txBox="1"/>
          <p:nvPr/>
        </p:nvSpPr>
        <p:spPr>
          <a:xfrm>
            <a:off x="9555480" y="5285232"/>
            <a:ext cx="1828800" cy="228600"/>
          </a:xfrm>
          <a:prstGeom prst="rect">
            <a:avLst/>
          </a:prstGeom>
          <a:noFill/>
          <a:ln/>
        </p:spPr>
        <p:txBody>
          <a:bodyPr wrap="square" lIns="0" tIns="0" rIns="0" bIns="0" rtlCol="0" anchor="ctr"/>
          <a:lstStyle/>
          <a:p>
            <a:pPr indent="0" marL="0">
              <a:buNone/>
            </a:pPr>
            <a:r>
              <a:rPr lang="en-US" sz="1800" b="1" dirty="0">
                <a:solidFill>
                  <a:srgbClr val="102E2E"/>
                </a:solidFill>
                <a:latin typeface="Calibri" pitchFamily="34" charset="0"/>
                <a:ea typeface="Calibri" pitchFamily="34" charset="-122"/>
                <a:cs typeface="Calibri" pitchFamily="34" charset="-120"/>
              </a:rPr>
              <a:t>Time</a:t>
            </a:r>
            <a:endParaRPr lang="en-US" sz="1800" dirty="0"/>
          </a:p>
        </p:txBody>
      </p:sp>
      <p:sp>
        <p:nvSpPr>
          <p:cNvPr id="76" name="Text 67"/>
          <p:cNvSpPr txBox="1"/>
          <p:nvPr/>
        </p:nvSpPr>
        <p:spPr>
          <a:xfrm>
            <a:off x="9198864" y="5614416"/>
            <a:ext cx="2304288" cy="173736"/>
          </a:xfrm>
          <a:prstGeom prst="rect">
            <a:avLst/>
          </a:prstGeom>
          <a:noFill/>
          <a:ln/>
        </p:spPr>
        <p:txBody>
          <a:bodyPr wrap="square" lIns="0" tIns="0" rIns="0" bIns="0" rtlCol="0" anchor="ctr"/>
          <a:lstStyle/>
          <a:p>
            <a:pPr indent="0" marL="0">
              <a:buNone/>
            </a:pPr>
            <a:r>
              <a:rPr lang="en-US" sz="1230" dirty="0">
                <a:solidFill>
                  <a:srgbClr val="526661"/>
                </a:solidFill>
                <a:latin typeface="Calibri" pitchFamily="34" charset="0"/>
                <a:ea typeface="Calibri" pitchFamily="34" charset="-122"/>
                <a:cs typeface="Calibri" pitchFamily="34" charset="-120"/>
              </a:rPr>
              <a:t>Day · Month · Quarter</a:t>
            </a:r>
            <a:endParaRPr lang="en-US" sz="1230" dirty="0"/>
          </a:p>
        </p:txBody>
      </p:sp>
      <p:sp>
        <p:nvSpPr>
          <p:cNvPr id="77" name="Text 68"/>
          <p:cNvSpPr txBox="1"/>
          <p:nvPr/>
        </p:nvSpPr>
        <p:spPr>
          <a:xfrm>
            <a:off x="9198864" y="5879592"/>
            <a:ext cx="2286000" cy="146304"/>
          </a:xfrm>
          <a:prstGeom prst="rect">
            <a:avLst/>
          </a:prstGeom>
          <a:noFill/>
          <a:ln/>
        </p:spPr>
        <p:txBody>
          <a:bodyPr wrap="square" lIns="0" tIns="0" rIns="0" bIns="0" rtlCol="0" anchor="ctr"/>
          <a:lstStyle/>
          <a:p>
            <a:pPr indent="0" marL="0">
              <a:buNone/>
            </a:pPr>
            <a:r>
              <a:rPr lang="en-US" sz="1150" b="1" dirty="0">
                <a:solidFill>
                  <a:srgbClr val="176C55"/>
                </a:solidFill>
                <a:latin typeface="Calibri" pitchFamily="34" charset="0"/>
                <a:ea typeface="Calibri" pitchFamily="34" charset="-122"/>
                <a:cs typeface="Calibri" pitchFamily="34" charset="-120"/>
              </a:rPr>
              <a:t>When does demand grow?</a:t>
            </a:r>
            <a:endParaRPr lang="en-US" sz="1150" dirty="0"/>
          </a:p>
        </p:txBody>
      </p:sp>
      <p:sp>
        <p:nvSpPr>
          <p:cNvPr id="78" name="Text 69"/>
          <p:cNvSpPr txBox="1"/>
          <p:nvPr/>
        </p:nvSpPr>
        <p:spPr>
          <a:xfrm>
            <a:off x="548640" y="6455664"/>
            <a:ext cx="4572000" cy="164592"/>
          </a:xfrm>
          <a:prstGeom prst="rect">
            <a:avLst/>
          </a:prstGeom>
          <a:noFill/>
          <a:ln/>
        </p:spPr>
        <p:txBody>
          <a:bodyPr wrap="square" lIns="0" tIns="0" rIns="0" bIns="0" rtlCol="0" anchor="ctr"/>
          <a:lstStyle/>
          <a:p>
            <a:pPr indent="0" marL="0">
              <a:buNone/>
            </a:pPr>
            <a:r>
              <a:rPr lang="en-US" sz="1050" dirty="0">
                <a:solidFill>
                  <a:srgbClr val="526661"/>
                </a:solidFill>
                <a:latin typeface="Calibri" pitchFamily="34" charset="0"/>
                <a:ea typeface="Calibri" pitchFamily="34" charset="-122"/>
                <a:cs typeface="Calibri" pitchFamily="34" charset="-120"/>
              </a:rPr>
              <a:t>Kadache Ahmed Rami  /  3CS2</a:t>
            </a:r>
            <a:endParaRPr lang="en-US" sz="1050" dirty="0"/>
          </a:p>
        </p:txBody>
      </p:sp>
      <p:sp>
        <p:nvSpPr>
          <p:cNvPr id="79" name="Text 70"/>
          <p:cNvSpPr txBox="1"/>
          <p:nvPr/>
        </p:nvSpPr>
        <p:spPr>
          <a:xfrm>
            <a:off x="7086600" y="6455664"/>
            <a:ext cx="3977640" cy="164592"/>
          </a:xfrm>
          <a:prstGeom prst="rect">
            <a:avLst/>
          </a:prstGeom>
          <a:noFill/>
          <a:ln/>
        </p:spPr>
        <p:txBody>
          <a:bodyPr wrap="square" lIns="0" tIns="0" rIns="0" bIns="0" rtlCol="0" anchor="ctr"/>
          <a:lstStyle/>
          <a:p>
            <a:pPr algn="r" indent="0" marL="0">
              <a:buNone/>
            </a:pPr>
            <a:r>
              <a:rPr lang="en-US" sz="1050" dirty="0">
                <a:solidFill>
                  <a:srgbClr val="526661"/>
                </a:solidFill>
                <a:latin typeface="Calibri" pitchFamily="34" charset="0"/>
                <a:ea typeface="Calibri" pitchFamily="34" charset="-122"/>
                <a:cs typeface="Calibri" pitchFamily="34" charset="-120"/>
              </a:rPr>
              <a:t>Business Intelligence  ·  October 2026</a:t>
            </a:r>
            <a:endParaRPr lang="en-US" sz="1050" dirty="0"/>
          </a:p>
        </p:txBody>
      </p:sp>
      <p:sp>
        <p:nvSpPr>
          <p:cNvPr id="80" name="Text 71"/>
          <p:cNvSpPr txBox="1"/>
          <p:nvPr/>
        </p:nvSpPr>
        <p:spPr>
          <a:xfrm>
            <a:off x="11338560" y="6428232"/>
            <a:ext cx="292608" cy="210312"/>
          </a:xfrm>
          <a:prstGeom prst="rect">
            <a:avLst/>
          </a:prstGeom>
          <a:noFill/>
          <a:ln/>
        </p:spPr>
        <p:txBody>
          <a:bodyPr wrap="square" lIns="0" tIns="0" rIns="0" bIns="0" rtlCol="0" anchor="ctr"/>
          <a:lstStyle/>
          <a:p>
            <a:pPr algn="r" indent="0" marL="0">
              <a:buNone/>
            </a:pPr>
            <a:r>
              <a:rPr lang="en-US" sz="1100" b="1" dirty="0">
                <a:solidFill>
                  <a:srgbClr val="176C55"/>
                </a:solidFill>
                <a:latin typeface="Calibri" pitchFamily="34" charset="0"/>
                <a:ea typeface="Calibri" pitchFamily="34" charset="-122"/>
                <a:cs typeface="Calibri"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BrandDisk"/>
          <p:cNvSpPr/>
          <p:nvPr/>
        </p:nvSpPr>
        <p:spPr>
          <a:xfrm>
            <a:off x="530352" y="365760"/>
            <a:ext cx="356616" cy="356616"/>
          </a:xfrm>
          <a:prstGeom prst="ellipse">
            <a:avLst/>
          </a:prstGeom>
          <a:solidFill>
            <a:srgbClr val="102E2E"/>
          </a:solidFill>
          <a:ln w="12700">
            <a:solidFill>
              <a:srgbClr val="102E2E">
                <a:alpha val="0"/>
              </a:srgbClr>
            </a:solidFill>
            <a:prstDash val="solid"/>
          </a:ln>
        </p:spPr>
      </p:sp>
      <p:sp>
        <p:nvSpPr>
          <p:cNvPr id="3" name="Shape 1"/>
          <p:cNvSpPr/>
          <p:nvPr/>
        </p:nvSpPr>
        <p:spPr>
          <a:xfrm>
            <a:off x="637337" y="585216"/>
            <a:ext cx="71323" cy="-100584"/>
          </a:xfrm>
          <a:prstGeom prst="line">
            <a:avLst/>
          </a:prstGeom>
          <a:noFill/>
          <a:ln w="25400">
            <a:solidFill>
              <a:srgbClr val="BDFADE"/>
            </a:solidFill>
            <a:prstDash val="solid"/>
          </a:ln>
        </p:spPr>
      </p:sp>
      <p:sp>
        <p:nvSpPr>
          <p:cNvPr id="4" name="Shape 2"/>
          <p:cNvSpPr/>
          <p:nvPr/>
        </p:nvSpPr>
        <p:spPr>
          <a:xfrm>
            <a:off x="708660" y="484632"/>
            <a:ext cx="71323" cy="100584"/>
          </a:xfrm>
          <a:prstGeom prst="line">
            <a:avLst/>
          </a:prstGeom>
          <a:noFill/>
          <a:ln w="25400">
            <a:solidFill>
              <a:srgbClr val="BDFADE"/>
            </a:solidFill>
            <a:prstDash val="solid"/>
          </a:ln>
        </p:spPr>
      </p:sp>
      <p:sp>
        <p:nvSpPr>
          <p:cNvPr id="5" name="Shape 3"/>
          <p:cNvSpPr/>
          <p:nvPr/>
        </p:nvSpPr>
        <p:spPr>
          <a:xfrm>
            <a:off x="658368" y="603504"/>
            <a:ext cx="98755" cy="0"/>
          </a:xfrm>
          <a:prstGeom prst="line">
            <a:avLst/>
          </a:prstGeom>
          <a:noFill/>
          <a:ln w="25400">
            <a:solidFill>
              <a:srgbClr val="BDFADE"/>
            </a:solidFill>
            <a:prstDash val="solid"/>
          </a:ln>
        </p:spPr>
      </p:sp>
      <p:sp>
        <p:nvSpPr>
          <p:cNvPr id="6" name="!!BrandWord"/>
          <p:cNvSpPr txBox="1"/>
          <p:nvPr/>
        </p:nvSpPr>
        <p:spPr>
          <a:xfrm>
            <a:off x="987552" y="370332"/>
            <a:ext cx="1828800" cy="310896"/>
          </a:xfrm>
          <a:prstGeom prst="rect">
            <a:avLst/>
          </a:prstGeom>
          <a:noFill/>
          <a:ln/>
        </p:spPr>
        <p:txBody>
          <a:bodyPr wrap="square" lIns="0" tIns="0" rIns="0" bIns="0" rtlCol="0" anchor="ctr"/>
          <a:lstStyle/>
          <a:p>
            <a:pPr indent="0" marL="0">
              <a:buNone/>
            </a:pPr>
            <a:r>
              <a:rPr lang="en-US" sz="2000" b="1" dirty="0">
                <a:solidFill>
                  <a:srgbClr val="102E2E"/>
                </a:solidFill>
                <a:latin typeface="Calibri" pitchFamily="34" charset="0"/>
                <a:ea typeface="Calibri" pitchFamily="34" charset="-122"/>
                <a:cs typeface="Calibri" pitchFamily="34" charset="-120"/>
              </a:rPr>
              <a:t>ain token</a:t>
            </a:r>
            <a:endParaRPr lang="en-US" sz="2000" dirty="0"/>
          </a:p>
        </p:txBody>
      </p:sp>
      <p:sp>
        <p:nvSpPr>
          <p:cNvPr id="7" name="Text 5"/>
          <p:cNvSpPr txBox="1"/>
          <p:nvPr/>
        </p:nvSpPr>
        <p:spPr>
          <a:xfrm>
            <a:off x="2999232" y="429768"/>
            <a:ext cx="3657600" cy="182880"/>
          </a:xfrm>
          <a:prstGeom prst="rect">
            <a:avLst/>
          </a:prstGeom>
          <a:noFill/>
          <a:ln/>
        </p:spPr>
        <p:txBody>
          <a:bodyPr wrap="square" lIns="0" tIns="0" rIns="0" bIns="0" rtlCol="0" anchor="ctr"/>
          <a:lstStyle/>
          <a:p>
            <a:pPr indent="0" marL="0">
              <a:buNone/>
            </a:pPr>
            <a:r>
              <a:rPr lang="en-US" sz="1050" spc="160" kern="0" dirty="0">
                <a:solidFill>
                  <a:srgbClr val="526661"/>
                </a:solidFill>
                <a:latin typeface="Calibri" pitchFamily="34" charset="0"/>
                <a:ea typeface="Calibri" pitchFamily="34" charset="-122"/>
                <a:cs typeface="Calibri" pitchFamily="34" charset="-120"/>
              </a:rPr>
              <a:t>TP1 / BUSINESS INTELLIGENCE</a:t>
            </a:r>
            <a:endParaRPr lang="en-US" sz="1050" dirty="0"/>
          </a:p>
        </p:txBody>
      </p:sp>
      <p:sp>
        <p:nvSpPr>
          <p:cNvPr id="8" name="!!SectionActive"/>
          <p:cNvSpPr/>
          <p:nvPr/>
        </p:nvSpPr>
        <p:spPr>
          <a:xfrm>
            <a:off x="10232136" y="365760"/>
            <a:ext cx="603504" cy="338328"/>
          </a:xfrm>
          <a:prstGeom prst="roundRect">
            <a:avLst>
              <a:gd name="adj" fmla="val 45946"/>
            </a:avLst>
          </a:prstGeom>
          <a:solidFill>
            <a:srgbClr val="102E2E"/>
          </a:solidFill>
          <a:ln w="12700">
            <a:solidFill>
              <a:srgbClr val="102E2E">
                <a:alpha val="0"/>
              </a:srgbClr>
            </a:solidFill>
            <a:prstDash val="solid"/>
          </a:ln>
        </p:spPr>
      </p:sp>
      <p:sp>
        <p:nvSpPr>
          <p:cNvPr id="9" name="Section0"/>
          <p:cNvSpPr txBox="1"/>
          <p:nvPr/>
        </p:nvSpPr>
        <p:spPr>
          <a:xfrm>
            <a:off x="9445752" y="406908"/>
            <a:ext cx="603504" cy="164592"/>
          </a:xfrm>
          <a:prstGeom prst="rect">
            <a:avLst/>
          </a:prstGeom>
          <a:noFill/>
          <a:ln/>
        </p:spPr>
        <p:txBody>
          <a:bodyPr wrap="square" lIns="0" tIns="0" rIns="0" bIns="0" rtlCol="0" anchor="ctr"/>
          <a:lstStyle/>
          <a:p>
            <a:pPr algn="ctr" indent="0" marL="0">
              <a:buNone/>
            </a:pPr>
            <a:r>
              <a:rPr lang="en-US" sz="1100" b="1" dirty="0">
                <a:solidFill>
                  <a:srgbClr val="8CA59C"/>
                </a:solidFill>
                <a:latin typeface="Calibri" pitchFamily="34" charset="0"/>
                <a:ea typeface="Calibri" pitchFamily="34" charset="-122"/>
                <a:cs typeface="Calibri" pitchFamily="34" charset="-120"/>
              </a:rPr>
              <a:t>01</a:t>
            </a:r>
            <a:endParaRPr lang="en-US" sz="1100" dirty="0"/>
          </a:p>
        </p:txBody>
      </p:sp>
      <p:sp>
        <p:nvSpPr>
          <p:cNvPr id="10" name="Section1"/>
          <p:cNvSpPr txBox="1"/>
          <p:nvPr/>
        </p:nvSpPr>
        <p:spPr>
          <a:xfrm>
            <a:off x="10232136" y="406908"/>
            <a:ext cx="60350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
        <p:nvSpPr>
          <p:cNvPr id="11" name="Section2"/>
          <p:cNvSpPr txBox="1"/>
          <p:nvPr/>
        </p:nvSpPr>
        <p:spPr>
          <a:xfrm>
            <a:off x="11018520" y="406908"/>
            <a:ext cx="603504" cy="164592"/>
          </a:xfrm>
          <a:prstGeom prst="rect">
            <a:avLst/>
          </a:prstGeom>
          <a:noFill/>
          <a:ln/>
        </p:spPr>
        <p:txBody>
          <a:bodyPr wrap="square" lIns="0" tIns="0" rIns="0" bIns="0" rtlCol="0" anchor="ctr"/>
          <a:lstStyle/>
          <a:p>
            <a:pPr algn="ctr" indent="0" marL="0">
              <a:buNone/>
            </a:pPr>
            <a:r>
              <a:rPr lang="en-US" sz="1100" b="1" dirty="0">
                <a:solidFill>
                  <a:srgbClr val="8CA59C"/>
                </a:solidFill>
                <a:latin typeface="Calibri" pitchFamily="34" charset="0"/>
                <a:ea typeface="Calibri" pitchFamily="34" charset="-122"/>
                <a:cs typeface="Calibri" pitchFamily="34" charset="-120"/>
              </a:rPr>
              <a:t>03</a:t>
            </a:r>
            <a:endParaRPr lang="en-US" sz="1100" dirty="0"/>
          </a:p>
        </p:txBody>
      </p:sp>
      <p:sp>
        <p:nvSpPr>
          <p:cNvPr id="12" name="Text 10"/>
          <p:cNvSpPr txBox="1"/>
          <p:nvPr/>
        </p:nvSpPr>
        <p:spPr>
          <a:xfrm>
            <a:off x="548640" y="932688"/>
            <a:ext cx="10515600" cy="201168"/>
          </a:xfrm>
          <a:prstGeom prst="rect">
            <a:avLst/>
          </a:prstGeom>
          <a:noFill/>
          <a:ln/>
        </p:spPr>
        <p:txBody>
          <a:bodyPr wrap="square" lIns="0" tIns="0" rIns="0" bIns="0" rtlCol="0" anchor="ctr"/>
          <a:lstStyle/>
          <a:p>
            <a:pPr indent="0" marL="0">
              <a:buNone/>
            </a:pPr>
            <a:r>
              <a:rPr lang="en-US" sz="1100" b="1" spc="190" kern="0" dirty="0">
                <a:solidFill>
                  <a:srgbClr val="176C55"/>
                </a:solidFill>
                <a:latin typeface="Calibri" pitchFamily="34" charset="0"/>
                <a:ea typeface="Calibri" pitchFamily="34" charset="-122"/>
                <a:cs typeface="Calibri" pitchFamily="34" charset="-120"/>
              </a:rPr>
              <a:t>02 / MANAGEMENT’S DECISION-MAKING NEEDS</a:t>
            </a:r>
            <a:endParaRPr lang="en-US" sz="1100" dirty="0"/>
          </a:p>
        </p:txBody>
      </p:sp>
      <p:sp>
        <p:nvSpPr>
          <p:cNvPr id="13" name="Text 11"/>
          <p:cNvSpPr txBox="1"/>
          <p:nvPr/>
        </p:nvSpPr>
        <p:spPr>
          <a:xfrm>
            <a:off x="548640" y="1298448"/>
            <a:ext cx="10972800" cy="594360"/>
          </a:xfrm>
          <a:prstGeom prst="rect">
            <a:avLst/>
          </a:prstGeom>
          <a:noFill/>
          <a:ln/>
        </p:spPr>
        <p:txBody>
          <a:bodyPr wrap="square" lIns="0" tIns="0" rIns="0" bIns="0" rtlCol="0" anchor="ctr"/>
          <a:lstStyle/>
          <a:p>
            <a:pPr indent="0" marL="0">
              <a:buNone/>
            </a:pPr>
            <a:r>
              <a:rPr lang="en-US" sz="3900" b="1" dirty="0">
                <a:solidFill>
                  <a:srgbClr val="102E2E"/>
                </a:solidFill>
                <a:latin typeface="Calibri" pitchFamily="34" charset="0"/>
                <a:ea typeface="Calibri" pitchFamily="34" charset="-122"/>
                <a:cs typeface="Calibri" pitchFamily="34" charset="-120"/>
              </a:rPr>
              <a:t>Turn questions into decisions.</a:t>
            </a:r>
            <a:endParaRPr lang="en-US" sz="3900" dirty="0"/>
          </a:p>
        </p:txBody>
      </p:sp>
      <p:sp>
        <p:nvSpPr>
          <p:cNvPr id="14" name="Shape 12"/>
          <p:cNvSpPr/>
          <p:nvPr/>
        </p:nvSpPr>
        <p:spPr>
          <a:xfrm>
            <a:off x="548640" y="2194560"/>
            <a:ext cx="3145536" cy="3931920"/>
          </a:xfrm>
          <a:prstGeom prst="roundRect">
            <a:avLst>
              <a:gd name="adj" fmla="val 5814"/>
            </a:avLst>
          </a:prstGeom>
          <a:solidFill>
            <a:srgbClr val="102E2E"/>
          </a:solidFill>
          <a:ln w="12700">
            <a:solidFill>
              <a:srgbClr val="102E2E">
                <a:alpha val="0"/>
              </a:srgbClr>
            </a:solidFill>
            <a:prstDash val="solid"/>
          </a:ln>
        </p:spPr>
      </p:sp>
      <p:sp>
        <p:nvSpPr>
          <p:cNvPr id="15" name="Text 13"/>
          <p:cNvSpPr txBox="1"/>
          <p:nvPr/>
        </p:nvSpPr>
        <p:spPr>
          <a:xfrm>
            <a:off x="795528" y="2459736"/>
            <a:ext cx="2651760" cy="658368"/>
          </a:xfrm>
          <a:prstGeom prst="rect">
            <a:avLst/>
          </a:prstGeom>
          <a:noFill/>
          <a:ln/>
        </p:spPr>
        <p:txBody>
          <a:bodyPr wrap="square" lIns="0" tIns="0" rIns="0" bIns="0" rtlCol="0" anchor="ctr"/>
          <a:lstStyle/>
          <a:p>
            <a:pPr indent="0" marL="0">
              <a:buNone/>
            </a:pPr>
            <a:r>
              <a:rPr lang="en-US" sz="2500" b="1" dirty="0">
                <a:solidFill>
                  <a:srgbClr val="FFFFFF"/>
                </a:solidFill>
                <a:latin typeface="Calibri" pitchFamily="34" charset="0"/>
                <a:ea typeface="Calibri" pitchFamily="34" charset="-122"/>
                <a:cs typeface="Calibri" pitchFamily="34" charset="-120"/>
              </a:rPr>
              <a:t>Today: fragmented data.</a:t>
            </a:r>
            <a:endParaRPr lang="en-US" sz="2500" dirty="0"/>
          </a:p>
        </p:txBody>
      </p:sp>
      <p:sp>
        <p:nvSpPr>
          <p:cNvPr id="16" name="Text 14"/>
          <p:cNvSpPr txBox="1"/>
          <p:nvPr/>
        </p:nvSpPr>
        <p:spPr>
          <a:xfrm>
            <a:off x="804672" y="3319272"/>
            <a:ext cx="2642616" cy="612648"/>
          </a:xfrm>
          <a:prstGeom prst="rect">
            <a:avLst/>
          </a:prstGeom>
          <a:noFill/>
          <a:ln/>
        </p:spPr>
        <p:txBody>
          <a:bodyPr wrap="square" lIns="0" tIns="0" rIns="0" bIns="0" rtlCol="0" anchor="ctr"/>
          <a:lstStyle/>
          <a:p>
            <a:pPr indent="0" marL="0">
              <a:buNone/>
            </a:pPr>
            <a:r>
              <a:rPr lang="en-US" sz="1800" dirty="0">
                <a:solidFill>
                  <a:srgbClr val="C7D8D1"/>
                </a:solidFill>
                <a:latin typeface="Calibri" pitchFamily="34" charset="0"/>
                <a:ea typeface="Calibri" pitchFamily="34" charset="-122"/>
                <a:cs typeface="Calibri" pitchFamily="34" charset="-120"/>
              </a:rPr>
              <a:t>Usage logs, payments and invoices live in separate places.</a:t>
            </a:r>
            <a:endParaRPr lang="en-US" sz="1800" dirty="0"/>
          </a:p>
        </p:txBody>
      </p:sp>
      <p:sp>
        <p:nvSpPr>
          <p:cNvPr id="17" name="!!TokenCore"/>
          <p:cNvSpPr/>
          <p:nvPr/>
        </p:nvSpPr>
        <p:spPr>
          <a:xfrm>
            <a:off x="832104" y="4096512"/>
            <a:ext cx="621792" cy="621792"/>
          </a:xfrm>
          <a:prstGeom prst="ellipse">
            <a:avLst/>
          </a:prstGeom>
          <a:solidFill>
            <a:srgbClr val="BDFADE"/>
          </a:solidFill>
          <a:ln w="12700">
            <a:solidFill>
              <a:srgbClr val="BDFADE">
                <a:alpha val="0"/>
              </a:srgbClr>
            </a:solidFill>
            <a:prstDash val="solid"/>
          </a:ln>
        </p:spPr>
      </p:sp>
      <p:sp>
        <p:nvSpPr>
          <p:cNvPr id="18" name="!!GpuCore"/>
          <p:cNvSpPr/>
          <p:nvPr/>
        </p:nvSpPr>
        <p:spPr>
          <a:xfrm>
            <a:off x="1031077" y="4295485"/>
            <a:ext cx="223845" cy="223845"/>
          </a:xfrm>
          <a:prstGeom prst="roundRect">
            <a:avLst>
              <a:gd name="adj" fmla="val 14297"/>
            </a:avLst>
          </a:prstGeom>
          <a:solidFill>
            <a:srgbClr val="102E2E"/>
          </a:solidFill>
          <a:ln w="12700">
            <a:solidFill>
              <a:srgbClr val="102E2E">
                <a:alpha val="0"/>
              </a:srgbClr>
            </a:solidFill>
            <a:prstDash val="solid"/>
          </a:ln>
        </p:spPr>
      </p:sp>
      <p:sp>
        <p:nvSpPr>
          <p:cNvPr id="19" name="Shape 17"/>
          <p:cNvSpPr/>
          <p:nvPr/>
        </p:nvSpPr>
        <p:spPr>
          <a:xfrm>
            <a:off x="1068385" y="4227088"/>
            <a:ext cx="0" cy="62179"/>
          </a:xfrm>
          <a:prstGeom prst="line">
            <a:avLst/>
          </a:prstGeom>
          <a:noFill/>
          <a:ln w="13970">
            <a:solidFill>
              <a:srgbClr val="102E2E"/>
            </a:solidFill>
            <a:prstDash val="solid"/>
          </a:ln>
        </p:spPr>
      </p:sp>
      <p:sp>
        <p:nvSpPr>
          <p:cNvPr id="20" name="Shape 18"/>
          <p:cNvSpPr/>
          <p:nvPr/>
        </p:nvSpPr>
        <p:spPr>
          <a:xfrm>
            <a:off x="1068385" y="4525548"/>
            <a:ext cx="0" cy="62179"/>
          </a:xfrm>
          <a:prstGeom prst="line">
            <a:avLst/>
          </a:prstGeom>
          <a:noFill/>
          <a:ln w="13970">
            <a:solidFill>
              <a:srgbClr val="102E2E"/>
            </a:solidFill>
            <a:prstDash val="solid"/>
          </a:ln>
        </p:spPr>
      </p:sp>
      <p:sp>
        <p:nvSpPr>
          <p:cNvPr id="21" name="Shape 19"/>
          <p:cNvSpPr/>
          <p:nvPr/>
        </p:nvSpPr>
        <p:spPr>
          <a:xfrm>
            <a:off x="962680" y="4332793"/>
            <a:ext cx="62179" cy="0"/>
          </a:xfrm>
          <a:prstGeom prst="line">
            <a:avLst/>
          </a:prstGeom>
          <a:noFill/>
          <a:ln w="13970">
            <a:solidFill>
              <a:srgbClr val="102E2E"/>
            </a:solidFill>
            <a:prstDash val="solid"/>
          </a:ln>
        </p:spPr>
      </p:sp>
      <p:sp>
        <p:nvSpPr>
          <p:cNvPr id="22" name="Shape 20"/>
          <p:cNvSpPr/>
          <p:nvPr/>
        </p:nvSpPr>
        <p:spPr>
          <a:xfrm>
            <a:off x="1261140" y="4332793"/>
            <a:ext cx="62179" cy="0"/>
          </a:xfrm>
          <a:prstGeom prst="line">
            <a:avLst/>
          </a:prstGeom>
          <a:noFill/>
          <a:ln w="13970">
            <a:solidFill>
              <a:srgbClr val="102E2E"/>
            </a:solidFill>
            <a:prstDash val="solid"/>
          </a:ln>
        </p:spPr>
      </p:sp>
      <p:sp>
        <p:nvSpPr>
          <p:cNvPr id="23" name="Shape 21"/>
          <p:cNvSpPr/>
          <p:nvPr/>
        </p:nvSpPr>
        <p:spPr>
          <a:xfrm>
            <a:off x="1143000" y="4227088"/>
            <a:ext cx="0" cy="62179"/>
          </a:xfrm>
          <a:prstGeom prst="line">
            <a:avLst/>
          </a:prstGeom>
          <a:noFill/>
          <a:ln w="13970">
            <a:solidFill>
              <a:srgbClr val="102E2E"/>
            </a:solidFill>
            <a:prstDash val="solid"/>
          </a:ln>
        </p:spPr>
      </p:sp>
      <p:sp>
        <p:nvSpPr>
          <p:cNvPr id="24" name="Shape 22"/>
          <p:cNvSpPr/>
          <p:nvPr/>
        </p:nvSpPr>
        <p:spPr>
          <a:xfrm>
            <a:off x="1143000" y="4525548"/>
            <a:ext cx="0" cy="62179"/>
          </a:xfrm>
          <a:prstGeom prst="line">
            <a:avLst/>
          </a:prstGeom>
          <a:noFill/>
          <a:ln w="13970">
            <a:solidFill>
              <a:srgbClr val="102E2E"/>
            </a:solidFill>
            <a:prstDash val="solid"/>
          </a:ln>
        </p:spPr>
      </p:sp>
      <p:sp>
        <p:nvSpPr>
          <p:cNvPr id="25" name="Shape 23"/>
          <p:cNvSpPr/>
          <p:nvPr/>
        </p:nvSpPr>
        <p:spPr>
          <a:xfrm>
            <a:off x="962680" y="4407408"/>
            <a:ext cx="62179" cy="0"/>
          </a:xfrm>
          <a:prstGeom prst="line">
            <a:avLst/>
          </a:prstGeom>
          <a:noFill/>
          <a:ln w="13970">
            <a:solidFill>
              <a:srgbClr val="102E2E"/>
            </a:solidFill>
            <a:prstDash val="solid"/>
          </a:ln>
        </p:spPr>
      </p:sp>
      <p:sp>
        <p:nvSpPr>
          <p:cNvPr id="26" name="Shape 24"/>
          <p:cNvSpPr/>
          <p:nvPr/>
        </p:nvSpPr>
        <p:spPr>
          <a:xfrm>
            <a:off x="1261140" y="4407408"/>
            <a:ext cx="62179" cy="0"/>
          </a:xfrm>
          <a:prstGeom prst="line">
            <a:avLst/>
          </a:prstGeom>
          <a:noFill/>
          <a:ln w="13970">
            <a:solidFill>
              <a:srgbClr val="102E2E"/>
            </a:solidFill>
            <a:prstDash val="solid"/>
          </a:ln>
        </p:spPr>
      </p:sp>
      <p:sp>
        <p:nvSpPr>
          <p:cNvPr id="27" name="Shape 25"/>
          <p:cNvSpPr/>
          <p:nvPr/>
        </p:nvSpPr>
        <p:spPr>
          <a:xfrm>
            <a:off x="1217615" y="4227088"/>
            <a:ext cx="0" cy="62179"/>
          </a:xfrm>
          <a:prstGeom prst="line">
            <a:avLst/>
          </a:prstGeom>
          <a:noFill/>
          <a:ln w="13970">
            <a:solidFill>
              <a:srgbClr val="102E2E"/>
            </a:solidFill>
            <a:prstDash val="solid"/>
          </a:ln>
        </p:spPr>
      </p:sp>
      <p:sp>
        <p:nvSpPr>
          <p:cNvPr id="28" name="Shape 26"/>
          <p:cNvSpPr/>
          <p:nvPr/>
        </p:nvSpPr>
        <p:spPr>
          <a:xfrm>
            <a:off x="1217615" y="4525548"/>
            <a:ext cx="0" cy="62179"/>
          </a:xfrm>
          <a:prstGeom prst="line">
            <a:avLst/>
          </a:prstGeom>
          <a:noFill/>
          <a:ln w="13970">
            <a:solidFill>
              <a:srgbClr val="102E2E"/>
            </a:solidFill>
            <a:prstDash val="solid"/>
          </a:ln>
        </p:spPr>
      </p:sp>
      <p:sp>
        <p:nvSpPr>
          <p:cNvPr id="29" name="Shape 27"/>
          <p:cNvSpPr/>
          <p:nvPr/>
        </p:nvSpPr>
        <p:spPr>
          <a:xfrm>
            <a:off x="962680" y="4482023"/>
            <a:ext cx="62179" cy="0"/>
          </a:xfrm>
          <a:prstGeom prst="line">
            <a:avLst/>
          </a:prstGeom>
          <a:noFill/>
          <a:ln w="13970">
            <a:solidFill>
              <a:srgbClr val="102E2E"/>
            </a:solidFill>
            <a:prstDash val="solid"/>
          </a:ln>
        </p:spPr>
      </p:sp>
      <p:sp>
        <p:nvSpPr>
          <p:cNvPr id="30" name="Shape 28"/>
          <p:cNvSpPr/>
          <p:nvPr/>
        </p:nvSpPr>
        <p:spPr>
          <a:xfrm>
            <a:off x="1261140" y="4482023"/>
            <a:ext cx="62179" cy="0"/>
          </a:xfrm>
          <a:prstGeom prst="line">
            <a:avLst/>
          </a:prstGeom>
          <a:noFill/>
          <a:ln w="13970">
            <a:solidFill>
              <a:srgbClr val="102E2E"/>
            </a:solidFill>
            <a:prstDash val="solid"/>
          </a:ln>
        </p:spPr>
      </p:sp>
      <p:sp>
        <p:nvSpPr>
          <p:cNvPr id="31" name="Text 29"/>
          <p:cNvSpPr txBox="1"/>
          <p:nvPr/>
        </p:nvSpPr>
        <p:spPr>
          <a:xfrm>
            <a:off x="1673352" y="4142232"/>
            <a:ext cx="1792224" cy="530352"/>
          </a:xfrm>
          <a:prstGeom prst="rect">
            <a:avLst/>
          </a:prstGeom>
          <a:noFill/>
          <a:ln/>
        </p:spPr>
        <p:txBody>
          <a:bodyPr wrap="square" lIns="0" tIns="0" rIns="0" bIns="0" rtlCol="0" anchor="ctr"/>
          <a:lstStyle/>
          <a:p>
            <a:pPr indent="0" marL="0">
              <a:buNone/>
            </a:pPr>
            <a:r>
              <a:rPr lang="en-US" sz="1700" b="1" dirty="0">
                <a:solidFill>
                  <a:srgbClr val="BDFADE"/>
                </a:solidFill>
                <a:latin typeface="Calibri" pitchFamily="34" charset="0"/>
                <a:ea typeface="Calibri" pitchFamily="34" charset="-122"/>
                <a:cs typeface="Calibri" pitchFamily="34" charset="-120"/>
              </a:rPr>
              <a:t>GPUs cost money,</a:t>
            </a:r>
            <a:endParaRPr lang="en-US" sz="1700" dirty="0"/>
          </a:p>
          <a:p>
            <a:pPr indent="0" marL="0">
              <a:buNone/>
            </a:pPr>
            <a:r>
              <a:rPr lang="en-US" sz="1700" b="1" dirty="0">
                <a:solidFill>
                  <a:srgbClr val="BDFADE"/>
                </a:solidFill>
                <a:latin typeface="Calibri" pitchFamily="34" charset="0"/>
                <a:ea typeface="Calibri" pitchFamily="34" charset="-122"/>
                <a:cs typeface="Calibri" pitchFamily="34" charset="-120"/>
              </a:rPr>
              <a:t>busy or idle.</a:t>
            </a:r>
            <a:endParaRPr lang="en-US" sz="1700" dirty="0"/>
          </a:p>
        </p:txBody>
      </p:sp>
      <p:sp>
        <p:nvSpPr>
          <p:cNvPr id="32" name="Text 30"/>
          <p:cNvSpPr txBox="1"/>
          <p:nvPr/>
        </p:nvSpPr>
        <p:spPr>
          <a:xfrm>
            <a:off x="804672" y="5029200"/>
            <a:ext cx="2560320" cy="173736"/>
          </a:xfrm>
          <a:prstGeom prst="rect">
            <a:avLst/>
          </a:prstGeom>
          <a:noFill/>
          <a:ln/>
        </p:spPr>
        <p:txBody>
          <a:bodyPr wrap="square" lIns="0" tIns="0" rIns="0" bIns="0" rtlCol="0" anchor="ctr"/>
          <a:lstStyle/>
          <a:p>
            <a:pPr indent="0" marL="0">
              <a:buNone/>
            </a:pPr>
            <a:r>
              <a:rPr lang="en-US" sz="1050" b="1" spc="150" kern="0" dirty="0">
                <a:solidFill>
                  <a:srgbClr val="BDFADE"/>
                </a:solidFill>
                <a:latin typeface="Calibri" pitchFamily="34" charset="0"/>
                <a:ea typeface="Calibri" pitchFamily="34" charset="-122"/>
                <a:cs typeface="Calibri" pitchFamily="34" charset="-120"/>
              </a:rPr>
              <a:t>OUR ANSWER</a:t>
            </a:r>
            <a:endParaRPr lang="en-US" sz="1050" dirty="0"/>
          </a:p>
        </p:txBody>
      </p:sp>
      <p:sp>
        <p:nvSpPr>
          <p:cNvPr id="33" name="Text 31"/>
          <p:cNvSpPr txBox="1"/>
          <p:nvPr/>
        </p:nvSpPr>
        <p:spPr>
          <a:xfrm>
            <a:off x="804672" y="5385816"/>
            <a:ext cx="2606040" cy="53949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One sales dashboard.</a:t>
            </a:r>
            <a:endParaRPr lang="en-US" sz="2200" dirty="0"/>
          </a:p>
          <a:p>
            <a:pPr indent="0" marL="0">
              <a:buNone/>
            </a:pPr>
            <a:r>
              <a:rPr lang="en-US" sz="2200" b="1" dirty="0">
                <a:solidFill>
                  <a:srgbClr val="FFFFFF"/>
                </a:solidFill>
                <a:latin typeface="Calibri" pitchFamily="34" charset="0"/>
                <a:ea typeface="Calibri" pitchFamily="34" charset="-122"/>
                <a:cs typeface="Calibri" pitchFamily="34" charset="-120"/>
              </a:rPr>
              <a:t>One reliable view.</a:t>
            </a:r>
            <a:endParaRPr lang="en-US" sz="2200" dirty="0"/>
          </a:p>
        </p:txBody>
      </p:sp>
      <p:sp>
        <p:nvSpPr>
          <p:cNvPr id="34" name="Text 32"/>
          <p:cNvSpPr txBox="1"/>
          <p:nvPr/>
        </p:nvSpPr>
        <p:spPr>
          <a:xfrm>
            <a:off x="4069080" y="2267712"/>
            <a:ext cx="3840480" cy="182880"/>
          </a:xfrm>
          <a:prstGeom prst="rect">
            <a:avLst/>
          </a:prstGeom>
          <a:noFill/>
          <a:ln/>
        </p:spPr>
        <p:txBody>
          <a:bodyPr wrap="square" lIns="0" tIns="0" rIns="0" bIns="0" rtlCol="0" anchor="ctr"/>
          <a:lstStyle/>
          <a:p>
            <a:pPr indent="0" marL="0">
              <a:buNone/>
            </a:pPr>
            <a:r>
              <a:rPr lang="en-US" sz="1100" b="1" spc="140" kern="0" dirty="0">
                <a:solidFill>
                  <a:srgbClr val="176C55"/>
                </a:solidFill>
                <a:latin typeface="Calibri" pitchFamily="34" charset="0"/>
                <a:ea typeface="Calibri" pitchFamily="34" charset="-122"/>
                <a:cs typeface="Calibri" pitchFamily="34" charset="-120"/>
              </a:rPr>
              <a:t>BUSINESS QUESTION</a:t>
            </a:r>
            <a:endParaRPr lang="en-US" sz="1100" dirty="0"/>
          </a:p>
        </p:txBody>
      </p:sp>
      <p:sp>
        <p:nvSpPr>
          <p:cNvPr id="35" name="Text 33"/>
          <p:cNvSpPr txBox="1"/>
          <p:nvPr/>
        </p:nvSpPr>
        <p:spPr>
          <a:xfrm>
            <a:off x="8229600" y="2267712"/>
            <a:ext cx="3383280" cy="182880"/>
          </a:xfrm>
          <a:prstGeom prst="rect">
            <a:avLst/>
          </a:prstGeom>
          <a:noFill/>
          <a:ln/>
        </p:spPr>
        <p:txBody>
          <a:bodyPr wrap="square" lIns="0" tIns="0" rIns="0" bIns="0" rtlCol="0" anchor="ctr"/>
          <a:lstStyle/>
          <a:p>
            <a:pPr indent="0" marL="0">
              <a:buNone/>
            </a:pPr>
            <a:r>
              <a:rPr lang="en-US" sz="1100" b="1" spc="140" kern="0" dirty="0">
                <a:solidFill>
                  <a:srgbClr val="176C55"/>
                </a:solidFill>
                <a:latin typeface="Calibri" pitchFamily="34" charset="0"/>
                <a:ea typeface="Calibri" pitchFamily="34" charset="-122"/>
                <a:cs typeface="Calibri" pitchFamily="34" charset="-120"/>
              </a:rPr>
              <a:t>DECISION SUPPORTED</a:t>
            </a:r>
            <a:endParaRPr lang="en-US" sz="1100" dirty="0"/>
          </a:p>
        </p:txBody>
      </p:sp>
      <p:sp>
        <p:nvSpPr>
          <p:cNvPr id="36" name="Shape 34"/>
          <p:cNvSpPr/>
          <p:nvPr/>
        </p:nvSpPr>
        <p:spPr>
          <a:xfrm>
            <a:off x="3977640" y="2651760"/>
            <a:ext cx="7662672" cy="630936"/>
          </a:xfrm>
          <a:prstGeom prst="roundRect">
            <a:avLst>
              <a:gd name="adj" fmla="val 17391"/>
            </a:avLst>
          </a:prstGeom>
          <a:solidFill>
            <a:srgbClr val="F2F7F5"/>
          </a:solidFill>
          <a:ln w="12700">
            <a:solidFill>
              <a:srgbClr val="F2F7F5">
                <a:alpha val="0"/>
              </a:srgbClr>
            </a:solidFill>
            <a:prstDash val="solid"/>
          </a:ln>
        </p:spPr>
      </p:sp>
      <p:pic>
        <p:nvPicPr>
          <p:cNvPr id="37" name="Image 0" descr="chip icon">    </p:cNvPr>
          <p:cNvPicPr>
            <a:picLocks noChangeAspect="1"/>
          </p:cNvPicPr>
          <p:nvPr/>
        </p:nvPicPr>
        <p:blipFill>
          <a:blip r:embed="rId1"/>
          <a:stretch>
            <a:fillRect/>
          </a:stretch>
        </p:blipFill>
        <p:spPr>
          <a:xfrm>
            <a:off x="4151376" y="2807208"/>
            <a:ext cx="283464" cy="283464"/>
          </a:xfrm>
          <a:prstGeom prst="rect">
            <a:avLst/>
          </a:prstGeom>
        </p:spPr>
      </p:pic>
      <p:sp>
        <p:nvSpPr>
          <p:cNvPr id="38" name="Text 35"/>
          <p:cNvSpPr txBox="1"/>
          <p:nvPr/>
        </p:nvSpPr>
        <p:spPr>
          <a:xfrm>
            <a:off x="4590288" y="2743200"/>
            <a:ext cx="3374136" cy="219456"/>
          </a:xfrm>
          <a:prstGeom prst="rect">
            <a:avLst/>
          </a:prstGeom>
          <a:noFill/>
          <a:ln/>
        </p:spPr>
        <p:txBody>
          <a:bodyPr wrap="square" lIns="0" tIns="0" rIns="0" bIns="0" rtlCol="0" anchor="ctr"/>
          <a:lstStyle/>
          <a:p>
            <a:pPr indent="0" marL="0">
              <a:buNone/>
            </a:pPr>
            <a:r>
              <a:rPr lang="en-US" sz="1800" b="1" dirty="0">
                <a:solidFill>
                  <a:srgbClr val="102E2E"/>
                </a:solidFill>
                <a:latin typeface="Calibri" pitchFamily="34" charset="0"/>
                <a:ea typeface="Calibri" pitchFamily="34" charset="-122"/>
                <a:cs typeface="Calibri" pitchFamily="34" charset="-120"/>
              </a:rPr>
              <a:t>Model revenue</a:t>
            </a:r>
            <a:endParaRPr lang="en-US" sz="1800" dirty="0"/>
          </a:p>
        </p:txBody>
      </p:sp>
      <p:sp>
        <p:nvSpPr>
          <p:cNvPr id="39" name="Text 36"/>
          <p:cNvSpPr txBox="1"/>
          <p:nvPr/>
        </p:nvSpPr>
        <p:spPr>
          <a:xfrm>
            <a:off x="4590288" y="3017520"/>
            <a:ext cx="3374136" cy="155448"/>
          </a:xfrm>
          <a:prstGeom prst="rect">
            <a:avLst/>
          </a:prstGeom>
          <a:noFill/>
          <a:ln/>
        </p:spPr>
        <p:txBody>
          <a:bodyPr wrap="square" lIns="0" tIns="0" rIns="0" bIns="0" rtlCol="0" anchor="ctr"/>
          <a:lstStyle/>
          <a:p>
            <a:pPr indent="0" marL="0">
              <a:buNone/>
            </a:pPr>
            <a:r>
              <a:rPr lang="en-US" sz="1250" dirty="0">
                <a:solidFill>
                  <a:srgbClr val="526661"/>
                </a:solidFill>
                <a:latin typeface="Calibri" pitchFamily="34" charset="0"/>
                <a:ea typeface="Calibri" pitchFamily="34" charset="-122"/>
                <a:cs typeface="Calibri" pitchFamily="34" charset="-120"/>
              </a:rPr>
              <a:t>Which models earn the most?</a:t>
            </a:r>
            <a:endParaRPr lang="en-US" sz="1250" dirty="0"/>
          </a:p>
        </p:txBody>
      </p:sp>
      <p:sp>
        <p:nvSpPr>
          <p:cNvPr id="40" name="Shape 37"/>
          <p:cNvSpPr/>
          <p:nvPr/>
        </p:nvSpPr>
        <p:spPr>
          <a:xfrm>
            <a:off x="7799832" y="2962656"/>
            <a:ext cx="256032" cy="0"/>
          </a:xfrm>
          <a:prstGeom prst="line">
            <a:avLst/>
          </a:prstGeom>
          <a:noFill/>
          <a:ln w="19050">
            <a:solidFill>
              <a:srgbClr val="176C55"/>
            </a:solidFill>
            <a:prstDash val="solid"/>
            <a:headEnd type="none"/>
            <a:tailEnd type="triangle"/>
          </a:ln>
        </p:spPr>
      </p:sp>
      <p:sp>
        <p:nvSpPr>
          <p:cNvPr id="41" name="Text 38"/>
          <p:cNvSpPr txBox="1"/>
          <p:nvPr/>
        </p:nvSpPr>
        <p:spPr>
          <a:xfrm>
            <a:off x="8229600" y="2825496"/>
            <a:ext cx="3136392" cy="274320"/>
          </a:xfrm>
          <a:prstGeom prst="rect">
            <a:avLst/>
          </a:prstGeom>
          <a:noFill/>
          <a:ln/>
        </p:spPr>
        <p:txBody>
          <a:bodyPr wrap="square" lIns="0" tIns="0" rIns="0" bIns="0" rtlCol="0" anchor="ctr"/>
          <a:lstStyle/>
          <a:p>
            <a:pPr indent="0" marL="0">
              <a:buNone/>
            </a:pPr>
            <a:r>
              <a:rPr lang="en-US" sz="1730" b="1" dirty="0">
                <a:solidFill>
                  <a:srgbClr val="102E2E"/>
                </a:solidFill>
                <a:latin typeface="Calibri" pitchFamily="34" charset="0"/>
                <a:ea typeface="Calibri" pitchFamily="34" charset="-122"/>
                <a:cs typeface="Calibri" pitchFamily="34" charset="-120"/>
              </a:rPr>
              <a:t>Keep loaded / retire models</a:t>
            </a:r>
            <a:endParaRPr lang="en-US" sz="1730" dirty="0"/>
          </a:p>
        </p:txBody>
      </p:sp>
      <p:pic>
        <p:nvPicPr>
          <p:cNvPr id="42" name="Image 1" descr="tokens icon">    </p:cNvPr>
          <p:cNvPicPr>
            <a:picLocks noChangeAspect="1"/>
          </p:cNvPicPr>
          <p:nvPr/>
        </p:nvPicPr>
        <p:blipFill>
          <a:blip r:embed="rId2"/>
          <a:stretch>
            <a:fillRect/>
          </a:stretch>
        </p:blipFill>
        <p:spPr>
          <a:xfrm>
            <a:off x="4151376" y="3502152"/>
            <a:ext cx="283464" cy="283464"/>
          </a:xfrm>
          <a:prstGeom prst="rect">
            <a:avLst/>
          </a:prstGeom>
        </p:spPr>
      </p:pic>
      <p:sp>
        <p:nvSpPr>
          <p:cNvPr id="43" name="Text 39"/>
          <p:cNvSpPr txBox="1"/>
          <p:nvPr/>
        </p:nvSpPr>
        <p:spPr>
          <a:xfrm>
            <a:off x="4590288" y="3438144"/>
            <a:ext cx="3374136" cy="219456"/>
          </a:xfrm>
          <a:prstGeom prst="rect">
            <a:avLst/>
          </a:prstGeom>
          <a:noFill/>
          <a:ln/>
        </p:spPr>
        <p:txBody>
          <a:bodyPr wrap="square" lIns="0" tIns="0" rIns="0" bIns="0" rtlCol="0" anchor="ctr"/>
          <a:lstStyle/>
          <a:p>
            <a:pPr indent="0" marL="0">
              <a:buNone/>
            </a:pPr>
            <a:r>
              <a:rPr lang="en-US" sz="1800" b="1" dirty="0">
                <a:solidFill>
                  <a:srgbClr val="102E2E"/>
                </a:solidFill>
                <a:latin typeface="Calibri" pitchFamily="34" charset="0"/>
                <a:ea typeface="Calibri" pitchFamily="34" charset="-122"/>
                <a:cs typeface="Calibri" pitchFamily="34" charset="-120"/>
              </a:rPr>
              <a:t>Token demand</a:t>
            </a:r>
            <a:endParaRPr lang="en-US" sz="1800" dirty="0"/>
          </a:p>
        </p:txBody>
      </p:sp>
      <p:sp>
        <p:nvSpPr>
          <p:cNvPr id="44" name="Text 40"/>
          <p:cNvSpPr txBox="1"/>
          <p:nvPr/>
        </p:nvSpPr>
        <p:spPr>
          <a:xfrm>
            <a:off x="4590288" y="3712464"/>
            <a:ext cx="3374136" cy="155448"/>
          </a:xfrm>
          <a:prstGeom prst="rect">
            <a:avLst/>
          </a:prstGeom>
          <a:noFill/>
          <a:ln/>
        </p:spPr>
        <p:txBody>
          <a:bodyPr wrap="square" lIns="0" tIns="0" rIns="0" bIns="0" rtlCol="0" anchor="ctr"/>
          <a:lstStyle/>
          <a:p>
            <a:pPr indent="0" marL="0">
              <a:buNone/>
            </a:pPr>
            <a:r>
              <a:rPr lang="en-US" sz="1250" dirty="0">
                <a:solidFill>
                  <a:srgbClr val="526661"/>
                </a:solidFill>
                <a:latin typeface="Calibri" pitchFamily="34" charset="0"/>
                <a:ea typeface="Calibri" pitchFamily="34" charset="-122"/>
                <a:cs typeface="Calibri" pitchFamily="34" charset="-120"/>
              </a:rPr>
              <a:t>Is consumption growing monthly?</a:t>
            </a:r>
            <a:endParaRPr lang="en-US" sz="1250" dirty="0"/>
          </a:p>
        </p:txBody>
      </p:sp>
      <p:sp>
        <p:nvSpPr>
          <p:cNvPr id="45" name="Shape 41"/>
          <p:cNvSpPr/>
          <p:nvPr/>
        </p:nvSpPr>
        <p:spPr>
          <a:xfrm>
            <a:off x="7799832" y="3657600"/>
            <a:ext cx="256032" cy="0"/>
          </a:xfrm>
          <a:prstGeom prst="line">
            <a:avLst/>
          </a:prstGeom>
          <a:noFill/>
          <a:ln w="19050">
            <a:solidFill>
              <a:srgbClr val="176C55"/>
            </a:solidFill>
            <a:prstDash val="solid"/>
            <a:headEnd type="none"/>
            <a:tailEnd type="triangle"/>
          </a:ln>
        </p:spPr>
      </p:sp>
      <p:sp>
        <p:nvSpPr>
          <p:cNvPr id="46" name="Text 42"/>
          <p:cNvSpPr txBox="1"/>
          <p:nvPr/>
        </p:nvSpPr>
        <p:spPr>
          <a:xfrm>
            <a:off x="8229600" y="3520440"/>
            <a:ext cx="3136392" cy="274320"/>
          </a:xfrm>
          <a:prstGeom prst="rect">
            <a:avLst/>
          </a:prstGeom>
          <a:noFill/>
          <a:ln/>
        </p:spPr>
        <p:txBody>
          <a:bodyPr wrap="square" lIns="0" tIns="0" rIns="0" bIns="0" rtlCol="0" anchor="ctr"/>
          <a:lstStyle/>
          <a:p>
            <a:pPr indent="0" marL="0">
              <a:buNone/>
            </a:pPr>
            <a:r>
              <a:rPr lang="en-US" sz="1730" b="1" dirty="0">
                <a:solidFill>
                  <a:srgbClr val="102E2E"/>
                </a:solidFill>
                <a:latin typeface="Calibri" pitchFamily="34" charset="0"/>
                <a:ea typeface="Calibri" pitchFamily="34" charset="-122"/>
                <a:cs typeface="Calibri" pitchFamily="34" charset="-120"/>
              </a:rPr>
              <a:t>Plan GPU capacity</a:t>
            </a:r>
            <a:endParaRPr lang="en-US" sz="1730" dirty="0"/>
          </a:p>
        </p:txBody>
      </p:sp>
      <p:sp>
        <p:nvSpPr>
          <p:cNvPr id="47" name="Shape 43"/>
          <p:cNvSpPr/>
          <p:nvPr/>
        </p:nvSpPr>
        <p:spPr>
          <a:xfrm>
            <a:off x="3977640" y="4041648"/>
            <a:ext cx="7662672" cy="630936"/>
          </a:xfrm>
          <a:prstGeom prst="roundRect">
            <a:avLst>
              <a:gd name="adj" fmla="val 17391"/>
            </a:avLst>
          </a:prstGeom>
          <a:solidFill>
            <a:srgbClr val="F2F7F5"/>
          </a:solidFill>
          <a:ln w="12700">
            <a:solidFill>
              <a:srgbClr val="F2F7F5">
                <a:alpha val="0"/>
              </a:srgbClr>
            </a:solidFill>
            <a:prstDash val="solid"/>
          </a:ln>
        </p:spPr>
      </p:sp>
      <p:pic>
        <p:nvPicPr>
          <p:cNvPr id="48" name="Image 2" descr="pin icon">    </p:cNvPr>
          <p:cNvPicPr>
            <a:picLocks noChangeAspect="1"/>
          </p:cNvPicPr>
          <p:nvPr/>
        </p:nvPicPr>
        <p:blipFill>
          <a:blip r:embed="rId3"/>
          <a:stretch>
            <a:fillRect/>
          </a:stretch>
        </p:blipFill>
        <p:spPr>
          <a:xfrm>
            <a:off x="4151376" y="4197096"/>
            <a:ext cx="283464" cy="283464"/>
          </a:xfrm>
          <a:prstGeom prst="rect">
            <a:avLst/>
          </a:prstGeom>
        </p:spPr>
      </p:pic>
      <p:sp>
        <p:nvSpPr>
          <p:cNvPr id="49" name="Text 44"/>
          <p:cNvSpPr txBox="1"/>
          <p:nvPr/>
        </p:nvSpPr>
        <p:spPr>
          <a:xfrm>
            <a:off x="4590288" y="4133088"/>
            <a:ext cx="3374136" cy="219456"/>
          </a:xfrm>
          <a:prstGeom prst="rect">
            <a:avLst/>
          </a:prstGeom>
          <a:noFill/>
          <a:ln/>
        </p:spPr>
        <p:txBody>
          <a:bodyPr wrap="square" lIns="0" tIns="0" rIns="0" bIns="0" rtlCol="0" anchor="ctr"/>
          <a:lstStyle/>
          <a:p>
            <a:pPr indent="0" marL="0">
              <a:buNone/>
            </a:pPr>
            <a:r>
              <a:rPr lang="en-US" sz="1800" b="1" dirty="0">
                <a:solidFill>
                  <a:srgbClr val="102E2E"/>
                </a:solidFill>
                <a:latin typeface="Calibri" pitchFamily="34" charset="0"/>
                <a:ea typeface="Calibri" pitchFamily="34" charset="-122"/>
                <a:cs typeface="Calibri" pitchFamily="34" charset="-120"/>
              </a:rPr>
              <a:t>Regional revenue</a:t>
            </a:r>
            <a:endParaRPr lang="en-US" sz="1800" dirty="0"/>
          </a:p>
        </p:txBody>
      </p:sp>
      <p:sp>
        <p:nvSpPr>
          <p:cNvPr id="50" name="Text 45"/>
          <p:cNvSpPr txBox="1"/>
          <p:nvPr/>
        </p:nvSpPr>
        <p:spPr>
          <a:xfrm>
            <a:off x="4590288" y="4407408"/>
            <a:ext cx="3374136" cy="155448"/>
          </a:xfrm>
          <a:prstGeom prst="rect">
            <a:avLst/>
          </a:prstGeom>
          <a:noFill/>
          <a:ln/>
        </p:spPr>
        <p:txBody>
          <a:bodyPr wrap="square" lIns="0" tIns="0" rIns="0" bIns="0" rtlCol="0" anchor="ctr"/>
          <a:lstStyle/>
          <a:p>
            <a:pPr indent="0" marL="0">
              <a:buNone/>
            </a:pPr>
            <a:r>
              <a:rPr lang="en-US" sz="1250" dirty="0">
                <a:solidFill>
                  <a:srgbClr val="526661"/>
                </a:solidFill>
                <a:latin typeface="Calibri" pitchFamily="34" charset="0"/>
                <a:ea typeface="Calibri" pitchFamily="34" charset="-122"/>
                <a:cs typeface="Calibri" pitchFamily="34" charset="-120"/>
              </a:rPr>
              <a:t>Which regions bring the most revenue?</a:t>
            </a:r>
            <a:endParaRPr lang="en-US" sz="1250" dirty="0"/>
          </a:p>
        </p:txBody>
      </p:sp>
      <p:sp>
        <p:nvSpPr>
          <p:cNvPr id="51" name="Shape 46"/>
          <p:cNvSpPr/>
          <p:nvPr/>
        </p:nvSpPr>
        <p:spPr>
          <a:xfrm>
            <a:off x="7799832" y="4352544"/>
            <a:ext cx="256032" cy="0"/>
          </a:xfrm>
          <a:prstGeom prst="line">
            <a:avLst/>
          </a:prstGeom>
          <a:noFill/>
          <a:ln w="19050">
            <a:solidFill>
              <a:srgbClr val="176C55"/>
            </a:solidFill>
            <a:prstDash val="solid"/>
            <a:headEnd type="none"/>
            <a:tailEnd type="triangle"/>
          </a:ln>
        </p:spPr>
      </p:sp>
      <p:sp>
        <p:nvSpPr>
          <p:cNvPr id="52" name="Text 47"/>
          <p:cNvSpPr txBox="1"/>
          <p:nvPr/>
        </p:nvSpPr>
        <p:spPr>
          <a:xfrm>
            <a:off x="8229600" y="4215384"/>
            <a:ext cx="3136392" cy="274320"/>
          </a:xfrm>
          <a:prstGeom prst="rect">
            <a:avLst/>
          </a:prstGeom>
          <a:noFill/>
          <a:ln/>
        </p:spPr>
        <p:txBody>
          <a:bodyPr wrap="square" lIns="0" tIns="0" rIns="0" bIns="0" rtlCol="0" anchor="ctr"/>
          <a:lstStyle/>
          <a:p>
            <a:pPr indent="0" marL="0">
              <a:buNone/>
            </a:pPr>
            <a:r>
              <a:rPr lang="en-US" sz="1730" b="1" dirty="0">
                <a:solidFill>
                  <a:srgbClr val="102E2E"/>
                </a:solidFill>
                <a:latin typeface="Calibri" pitchFamily="34" charset="0"/>
                <a:ea typeface="Calibri" pitchFamily="34" charset="-122"/>
                <a:cs typeface="Calibri" pitchFamily="34" charset="-120"/>
              </a:rPr>
              <a:t>Target marketing &amp; partnerships</a:t>
            </a:r>
            <a:endParaRPr lang="en-US" sz="1730" dirty="0"/>
          </a:p>
        </p:txBody>
      </p:sp>
      <p:pic>
        <p:nvPicPr>
          <p:cNvPr id="53" name="Image 3" descr="people icon">    </p:cNvPr>
          <p:cNvPicPr>
            <a:picLocks noChangeAspect="1"/>
          </p:cNvPicPr>
          <p:nvPr/>
        </p:nvPicPr>
        <p:blipFill>
          <a:blip r:embed="rId4"/>
          <a:stretch>
            <a:fillRect/>
          </a:stretch>
        </p:blipFill>
        <p:spPr>
          <a:xfrm>
            <a:off x="4151376" y="4892040"/>
            <a:ext cx="283464" cy="283464"/>
          </a:xfrm>
          <a:prstGeom prst="rect">
            <a:avLst/>
          </a:prstGeom>
        </p:spPr>
      </p:pic>
      <p:sp>
        <p:nvSpPr>
          <p:cNvPr id="54" name="Text 48"/>
          <p:cNvSpPr txBox="1"/>
          <p:nvPr/>
        </p:nvSpPr>
        <p:spPr>
          <a:xfrm>
            <a:off x="4590288" y="4828032"/>
            <a:ext cx="3374136" cy="219456"/>
          </a:xfrm>
          <a:prstGeom prst="rect">
            <a:avLst/>
          </a:prstGeom>
          <a:noFill/>
          <a:ln/>
        </p:spPr>
        <p:txBody>
          <a:bodyPr wrap="square" lIns="0" tIns="0" rIns="0" bIns="0" rtlCol="0" anchor="ctr"/>
          <a:lstStyle/>
          <a:p>
            <a:pPr indent="0" marL="0">
              <a:buNone/>
            </a:pPr>
            <a:r>
              <a:rPr lang="en-US" sz="1800" b="1" dirty="0">
                <a:solidFill>
                  <a:srgbClr val="102E2E"/>
                </a:solidFill>
                <a:latin typeface="Calibri" pitchFamily="34" charset="0"/>
                <a:ea typeface="Calibri" pitchFamily="34" charset="-122"/>
                <a:cs typeface="Calibri" pitchFamily="34" charset="-120"/>
              </a:rPr>
              <a:t>Client value</a:t>
            </a:r>
            <a:endParaRPr lang="en-US" sz="1800" dirty="0"/>
          </a:p>
        </p:txBody>
      </p:sp>
      <p:sp>
        <p:nvSpPr>
          <p:cNvPr id="55" name="Text 49"/>
          <p:cNvSpPr txBox="1"/>
          <p:nvPr/>
        </p:nvSpPr>
        <p:spPr>
          <a:xfrm>
            <a:off x="4590288" y="5102352"/>
            <a:ext cx="3374136" cy="155448"/>
          </a:xfrm>
          <a:prstGeom prst="rect">
            <a:avLst/>
          </a:prstGeom>
          <a:noFill/>
          <a:ln/>
        </p:spPr>
        <p:txBody>
          <a:bodyPr wrap="square" lIns="0" tIns="0" rIns="0" bIns="0" rtlCol="0" anchor="ctr"/>
          <a:lstStyle/>
          <a:p>
            <a:pPr indent="0" marL="0">
              <a:buNone/>
            </a:pPr>
            <a:r>
              <a:rPr lang="en-US" sz="1250" dirty="0">
                <a:solidFill>
                  <a:srgbClr val="526661"/>
                </a:solidFill>
                <a:latin typeface="Calibri" pitchFamily="34" charset="0"/>
                <a:ea typeface="Calibri" pitchFamily="34" charset="-122"/>
                <a:cs typeface="Calibri" pitchFamily="34" charset="-120"/>
              </a:rPr>
              <a:t>Which segments are most valuable?</a:t>
            </a:r>
            <a:endParaRPr lang="en-US" sz="1250" dirty="0"/>
          </a:p>
        </p:txBody>
      </p:sp>
      <p:sp>
        <p:nvSpPr>
          <p:cNvPr id="56" name="Shape 50"/>
          <p:cNvSpPr/>
          <p:nvPr/>
        </p:nvSpPr>
        <p:spPr>
          <a:xfrm>
            <a:off x="7799832" y="5047488"/>
            <a:ext cx="256032" cy="0"/>
          </a:xfrm>
          <a:prstGeom prst="line">
            <a:avLst/>
          </a:prstGeom>
          <a:noFill/>
          <a:ln w="19050">
            <a:solidFill>
              <a:srgbClr val="176C55"/>
            </a:solidFill>
            <a:prstDash val="solid"/>
            <a:headEnd type="none"/>
            <a:tailEnd type="triangle"/>
          </a:ln>
        </p:spPr>
      </p:sp>
      <p:sp>
        <p:nvSpPr>
          <p:cNvPr id="57" name="Text 51"/>
          <p:cNvSpPr txBox="1"/>
          <p:nvPr/>
        </p:nvSpPr>
        <p:spPr>
          <a:xfrm>
            <a:off x="8229600" y="4910328"/>
            <a:ext cx="3136392" cy="274320"/>
          </a:xfrm>
          <a:prstGeom prst="rect">
            <a:avLst/>
          </a:prstGeom>
          <a:noFill/>
          <a:ln/>
        </p:spPr>
        <p:txBody>
          <a:bodyPr wrap="square" lIns="0" tIns="0" rIns="0" bIns="0" rtlCol="0" anchor="ctr"/>
          <a:lstStyle/>
          <a:p>
            <a:pPr indent="0" marL="0">
              <a:buNone/>
            </a:pPr>
            <a:r>
              <a:rPr lang="en-US" sz="1730" b="1" dirty="0">
                <a:solidFill>
                  <a:srgbClr val="102E2E"/>
                </a:solidFill>
                <a:latin typeface="Calibri" pitchFamily="34" charset="0"/>
                <a:ea typeface="Calibri" pitchFamily="34" charset="-122"/>
                <a:cs typeface="Calibri" pitchFamily="34" charset="-120"/>
              </a:rPr>
              <a:t>Set plans, prices &amp; discounts</a:t>
            </a:r>
            <a:endParaRPr lang="en-US" sz="1730" dirty="0"/>
          </a:p>
        </p:txBody>
      </p:sp>
      <p:sp>
        <p:nvSpPr>
          <p:cNvPr id="58" name="Shape 52"/>
          <p:cNvSpPr/>
          <p:nvPr/>
        </p:nvSpPr>
        <p:spPr>
          <a:xfrm>
            <a:off x="3977640" y="5431536"/>
            <a:ext cx="7662672" cy="630936"/>
          </a:xfrm>
          <a:prstGeom prst="roundRect">
            <a:avLst>
              <a:gd name="adj" fmla="val 17391"/>
            </a:avLst>
          </a:prstGeom>
          <a:solidFill>
            <a:srgbClr val="F2F7F5"/>
          </a:solidFill>
          <a:ln w="12700">
            <a:solidFill>
              <a:srgbClr val="F2F7F5">
                <a:alpha val="0"/>
              </a:srgbClr>
            </a:solidFill>
            <a:prstDash val="solid"/>
          </a:ln>
        </p:spPr>
      </p:sp>
      <p:pic>
        <p:nvPicPr>
          <p:cNvPr id="59" name="Image 4" descr="invoice icon">    </p:cNvPr>
          <p:cNvPicPr>
            <a:picLocks noChangeAspect="1"/>
          </p:cNvPicPr>
          <p:nvPr/>
        </p:nvPicPr>
        <p:blipFill>
          <a:blip r:embed="rId5"/>
          <a:stretch>
            <a:fillRect/>
          </a:stretch>
        </p:blipFill>
        <p:spPr>
          <a:xfrm>
            <a:off x="4151376" y="5586984"/>
            <a:ext cx="283464" cy="283464"/>
          </a:xfrm>
          <a:prstGeom prst="rect">
            <a:avLst/>
          </a:prstGeom>
        </p:spPr>
      </p:pic>
      <p:sp>
        <p:nvSpPr>
          <p:cNvPr id="60" name="Text 53"/>
          <p:cNvSpPr txBox="1"/>
          <p:nvPr/>
        </p:nvSpPr>
        <p:spPr>
          <a:xfrm>
            <a:off x="4590288" y="5522976"/>
            <a:ext cx="3374136" cy="219456"/>
          </a:xfrm>
          <a:prstGeom prst="rect">
            <a:avLst/>
          </a:prstGeom>
          <a:noFill/>
          <a:ln/>
        </p:spPr>
        <p:txBody>
          <a:bodyPr wrap="square" lIns="0" tIns="0" rIns="0" bIns="0" rtlCol="0" anchor="ctr"/>
          <a:lstStyle/>
          <a:p>
            <a:pPr indent="0" marL="0">
              <a:buNone/>
            </a:pPr>
            <a:r>
              <a:rPr lang="en-US" sz="1800" b="1" dirty="0">
                <a:solidFill>
                  <a:srgbClr val="102E2E"/>
                </a:solidFill>
                <a:latin typeface="Calibri" pitchFamily="34" charset="0"/>
                <a:ea typeface="Calibri" pitchFamily="34" charset="-122"/>
                <a:cs typeface="Calibri" pitchFamily="34" charset="-120"/>
              </a:rPr>
              <a:t>Invoice size</a:t>
            </a:r>
            <a:endParaRPr lang="en-US" sz="1800" dirty="0"/>
          </a:p>
        </p:txBody>
      </p:sp>
      <p:sp>
        <p:nvSpPr>
          <p:cNvPr id="61" name="Text 54"/>
          <p:cNvSpPr txBox="1"/>
          <p:nvPr/>
        </p:nvSpPr>
        <p:spPr>
          <a:xfrm>
            <a:off x="4590288" y="5797296"/>
            <a:ext cx="3374136" cy="155448"/>
          </a:xfrm>
          <a:prstGeom prst="rect">
            <a:avLst/>
          </a:prstGeom>
          <a:noFill/>
          <a:ln/>
        </p:spPr>
        <p:txBody>
          <a:bodyPr wrap="square" lIns="0" tIns="0" rIns="0" bIns="0" rtlCol="0" anchor="ctr"/>
          <a:lstStyle/>
          <a:p>
            <a:pPr indent="0" marL="0">
              <a:buNone/>
            </a:pPr>
            <a:r>
              <a:rPr lang="en-US" sz="1250" dirty="0">
                <a:solidFill>
                  <a:srgbClr val="526661"/>
                </a:solidFill>
                <a:latin typeface="Calibri" pitchFamily="34" charset="0"/>
                <a:ea typeface="Calibri" pitchFamily="34" charset="-122"/>
                <a:cs typeface="Calibri" pitchFamily="34" charset="-120"/>
              </a:rPr>
              <a:t>How large is the average invoice?</a:t>
            </a:r>
            <a:endParaRPr lang="en-US" sz="1250" dirty="0"/>
          </a:p>
        </p:txBody>
      </p:sp>
      <p:sp>
        <p:nvSpPr>
          <p:cNvPr id="62" name="Shape 55"/>
          <p:cNvSpPr/>
          <p:nvPr/>
        </p:nvSpPr>
        <p:spPr>
          <a:xfrm>
            <a:off x="7799832" y="5742432"/>
            <a:ext cx="256032" cy="0"/>
          </a:xfrm>
          <a:prstGeom prst="line">
            <a:avLst/>
          </a:prstGeom>
          <a:noFill/>
          <a:ln w="19050">
            <a:solidFill>
              <a:srgbClr val="176C55"/>
            </a:solidFill>
            <a:prstDash val="solid"/>
            <a:headEnd type="none"/>
            <a:tailEnd type="triangle"/>
          </a:ln>
        </p:spPr>
      </p:sp>
      <p:sp>
        <p:nvSpPr>
          <p:cNvPr id="63" name="Text 56"/>
          <p:cNvSpPr txBox="1"/>
          <p:nvPr/>
        </p:nvSpPr>
        <p:spPr>
          <a:xfrm>
            <a:off x="8229600" y="5605272"/>
            <a:ext cx="3136392" cy="274320"/>
          </a:xfrm>
          <a:prstGeom prst="rect">
            <a:avLst/>
          </a:prstGeom>
          <a:noFill/>
          <a:ln/>
        </p:spPr>
        <p:txBody>
          <a:bodyPr wrap="square" lIns="0" tIns="0" rIns="0" bIns="0" rtlCol="0" anchor="ctr"/>
          <a:lstStyle/>
          <a:p>
            <a:pPr indent="0" marL="0">
              <a:buNone/>
            </a:pPr>
            <a:r>
              <a:rPr lang="en-US" sz="1730" b="1" dirty="0">
                <a:solidFill>
                  <a:srgbClr val="102E2E"/>
                </a:solidFill>
                <a:latin typeface="Calibri" pitchFamily="34" charset="0"/>
                <a:ea typeface="Calibri" pitchFamily="34" charset="-122"/>
                <a:cs typeface="Calibri" pitchFamily="34" charset="-120"/>
              </a:rPr>
              <a:t>Set top-ups, bundles &amp; upselling</a:t>
            </a:r>
            <a:endParaRPr lang="en-US" sz="1730" dirty="0"/>
          </a:p>
        </p:txBody>
      </p:sp>
      <p:sp>
        <p:nvSpPr>
          <p:cNvPr id="64" name="Text 57"/>
          <p:cNvSpPr txBox="1"/>
          <p:nvPr/>
        </p:nvSpPr>
        <p:spPr>
          <a:xfrm>
            <a:off x="548640" y="6455664"/>
            <a:ext cx="4572000" cy="164592"/>
          </a:xfrm>
          <a:prstGeom prst="rect">
            <a:avLst/>
          </a:prstGeom>
          <a:noFill/>
          <a:ln/>
        </p:spPr>
        <p:txBody>
          <a:bodyPr wrap="square" lIns="0" tIns="0" rIns="0" bIns="0" rtlCol="0" anchor="ctr"/>
          <a:lstStyle/>
          <a:p>
            <a:pPr indent="0" marL="0">
              <a:buNone/>
            </a:pPr>
            <a:r>
              <a:rPr lang="en-US" sz="1050" dirty="0">
                <a:solidFill>
                  <a:srgbClr val="526661"/>
                </a:solidFill>
                <a:latin typeface="Calibri" pitchFamily="34" charset="0"/>
                <a:ea typeface="Calibri" pitchFamily="34" charset="-122"/>
                <a:cs typeface="Calibri" pitchFamily="34" charset="-120"/>
              </a:rPr>
              <a:t>Kadache Ahmed Rami  /  3CS2</a:t>
            </a:r>
            <a:endParaRPr lang="en-US" sz="1050" dirty="0"/>
          </a:p>
        </p:txBody>
      </p:sp>
      <p:sp>
        <p:nvSpPr>
          <p:cNvPr id="65" name="Text 58"/>
          <p:cNvSpPr txBox="1"/>
          <p:nvPr/>
        </p:nvSpPr>
        <p:spPr>
          <a:xfrm>
            <a:off x="7086600" y="6455664"/>
            <a:ext cx="3977640" cy="164592"/>
          </a:xfrm>
          <a:prstGeom prst="rect">
            <a:avLst/>
          </a:prstGeom>
          <a:noFill/>
          <a:ln/>
        </p:spPr>
        <p:txBody>
          <a:bodyPr wrap="square" lIns="0" tIns="0" rIns="0" bIns="0" rtlCol="0" anchor="ctr"/>
          <a:lstStyle/>
          <a:p>
            <a:pPr algn="r" indent="0" marL="0">
              <a:buNone/>
            </a:pPr>
            <a:r>
              <a:rPr lang="en-US" sz="1050" dirty="0">
                <a:solidFill>
                  <a:srgbClr val="526661"/>
                </a:solidFill>
                <a:latin typeface="Calibri" pitchFamily="34" charset="0"/>
                <a:ea typeface="Calibri" pitchFamily="34" charset="-122"/>
                <a:cs typeface="Calibri" pitchFamily="34" charset="-120"/>
              </a:rPr>
              <a:t>Business Intelligence  ·  October 2026</a:t>
            </a:r>
            <a:endParaRPr lang="en-US" sz="1050" dirty="0"/>
          </a:p>
        </p:txBody>
      </p:sp>
      <p:sp>
        <p:nvSpPr>
          <p:cNvPr id="66" name="Text 59"/>
          <p:cNvSpPr txBox="1"/>
          <p:nvPr/>
        </p:nvSpPr>
        <p:spPr>
          <a:xfrm>
            <a:off x="11338560" y="6428232"/>
            <a:ext cx="292608" cy="210312"/>
          </a:xfrm>
          <a:prstGeom prst="rect">
            <a:avLst/>
          </a:prstGeom>
          <a:noFill/>
          <a:ln/>
        </p:spPr>
        <p:txBody>
          <a:bodyPr wrap="square" lIns="0" tIns="0" rIns="0" bIns="0" rtlCol="0" anchor="ctr"/>
          <a:lstStyle/>
          <a:p>
            <a:pPr algn="r" indent="0" marL="0">
              <a:buNone/>
            </a:pPr>
            <a:r>
              <a:rPr lang="en-US" sz="1100" b="1" dirty="0">
                <a:solidFill>
                  <a:srgbClr val="176C55"/>
                </a:solidFill>
                <a:latin typeface="Calibri" pitchFamily="34" charset="0"/>
                <a:ea typeface="Calibri" pitchFamily="34" charset="-122"/>
                <a:cs typeface="Calibri" pitchFamily="34" charset="-120"/>
              </a:rPr>
              <a:t>02</a:t>
            </a:r>
            <a:endParaRPr lang="en-US" sz="1100" dirty="0"/>
          </a:p>
        </p:txBody>
      </p:sp>
    </p:spTree>
  </p:cSld>
  <p:clrMapOvr>
    <a:masterClrMapping/>
  </p:clrMapOvr>
  <mc:AlternateContent xmlns:mc="http://schemas.openxmlformats.org/markup-compatibility/2006" xmlns:p159="http://schemas.microsoft.com/office/powerpoint/2015/09/main" xmlns:p14="http://schemas.microsoft.com/office/powerpoint/2010/main" xmlns:p="http://schemas.openxmlformats.org/presentationml/2006/main">
    <mc:Choice Requires="p159">
      <p:transition spd="med" p14:dur="900">
        <p159:morph option="byObject"/>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BrandDisk"/>
          <p:cNvSpPr/>
          <p:nvPr/>
        </p:nvSpPr>
        <p:spPr>
          <a:xfrm>
            <a:off x="530352" y="365760"/>
            <a:ext cx="356616" cy="356616"/>
          </a:xfrm>
          <a:prstGeom prst="ellipse">
            <a:avLst/>
          </a:prstGeom>
          <a:solidFill>
            <a:srgbClr val="102E2E"/>
          </a:solidFill>
          <a:ln w="12700">
            <a:solidFill>
              <a:srgbClr val="102E2E">
                <a:alpha val="0"/>
              </a:srgbClr>
            </a:solidFill>
            <a:prstDash val="solid"/>
          </a:ln>
        </p:spPr>
      </p:sp>
      <p:sp>
        <p:nvSpPr>
          <p:cNvPr id="3" name="Shape 1"/>
          <p:cNvSpPr/>
          <p:nvPr/>
        </p:nvSpPr>
        <p:spPr>
          <a:xfrm>
            <a:off x="637337" y="585216"/>
            <a:ext cx="71323" cy="-100584"/>
          </a:xfrm>
          <a:prstGeom prst="line">
            <a:avLst/>
          </a:prstGeom>
          <a:noFill/>
          <a:ln w="25400">
            <a:solidFill>
              <a:srgbClr val="BDFADE"/>
            </a:solidFill>
            <a:prstDash val="solid"/>
          </a:ln>
        </p:spPr>
      </p:sp>
      <p:sp>
        <p:nvSpPr>
          <p:cNvPr id="4" name="Shape 2"/>
          <p:cNvSpPr/>
          <p:nvPr/>
        </p:nvSpPr>
        <p:spPr>
          <a:xfrm>
            <a:off x="708660" y="484632"/>
            <a:ext cx="71323" cy="100584"/>
          </a:xfrm>
          <a:prstGeom prst="line">
            <a:avLst/>
          </a:prstGeom>
          <a:noFill/>
          <a:ln w="25400">
            <a:solidFill>
              <a:srgbClr val="BDFADE"/>
            </a:solidFill>
            <a:prstDash val="solid"/>
          </a:ln>
        </p:spPr>
      </p:sp>
      <p:sp>
        <p:nvSpPr>
          <p:cNvPr id="5" name="Shape 3"/>
          <p:cNvSpPr/>
          <p:nvPr/>
        </p:nvSpPr>
        <p:spPr>
          <a:xfrm>
            <a:off x="658368" y="603504"/>
            <a:ext cx="98755" cy="0"/>
          </a:xfrm>
          <a:prstGeom prst="line">
            <a:avLst/>
          </a:prstGeom>
          <a:noFill/>
          <a:ln w="25400">
            <a:solidFill>
              <a:srgbClr val="BDFADE"/>
            </a:solidFill>
            <a:prstDash val="solid"/>
          </a:ln>
        </p:spPr>
      </p:sp>
      <p:sp>
        <p:nvSpPr>
          <p:cNvPr id="6" name="!!BrandWord"/>
          <p:cNvSpPr txBox="1"/>
          <p:nvPr/>
        </p:nvSpPr>
        <p:spPr>
          <a:xfrm>
            <a:off x="987552" y="370332"/>
            <a:ext cx="1828800" cy="310896"/>
          </a:xfrm>
          <a:prstGeom prst="rect">
            <a:avLst/>
          </a:prstGeom>
          <a:noFill/>
          <a:ln/>
        </p:spPr>
        <p:txBody>
          <a:bodyPr wrap="square" lIns="0" tIns="0" rIns="0" bIns="0" rtlCol="0" anchor="ctr"/>
          <a:lstStyle/>
          <a:p>
            <a:pPr indent="0" marL="0">
              <a:buNone/>
            </a:pPr>
            <a:r>
              <a:rPr lang="en-US" sz="2000" b="1" dirty="0">
                <a:solidFill>
                  <a:srgbClr val="102E2E"/>
                </a:solidFill>
                <a:latin typeface="Calibri" pitchFamily="34" charset="0"/>
                <a:ea typeface="Calibri" pitchFamily="34" charset="-122"/>
                <a:cs typeface="Calibri" pitchFamily="34" charset="-120"/>
              </a:rPr>
              <a:t>ain token</a:t>
            </a:r>
            <a:endParaRPr lang="en-US" sz="2000" dirty="0"/>
          </a:p>
        </p:txBody>
      </p:sp>
      <p:sp>
        <p:nvSpPr>
          <p:cNvPr id="7" name="Text 5"/>
          <p:cNvSpPr txBox="1"/>
          <p:nvPr/>
        </p:nvSpPr>
        <p:spPr>
          <a:xfrm>
            <a:off x="2999232" y="429768"/>
            <a:ext cx="3657600" cy="182880"/>
          </a:xfrm>
          <a:prstGeom prst="rect">
            <a:avLst/>
          </a:prstGeom>
          <a:noFill/>
          <a:ln/>
        </p:spPr>
        <p:txBody>
          <a:bodyPr wrap="square" lIns="0" tIns="0" rIns="0" bIns="0" rtlCol="0" anchor="ctr"/>
          <a:lstStyle/>
          <a:p>
            <a:pPr indent="0" marL="0">
              <a:buNone/>
            </a:pPr>
            <a:r>
              <a:rPr lang="en-US" sz="1050" spc="160" kern="0" dirty="0">
                <a:solidFill>
                  <a:srgbClr val="526661"/>
                </a:solidFill>
                <a:latin typeface="Calibri" pitchFamily="34" charset="0"/>
                <a:ea typeface="Calibri" pitchFamily="34" charset="-122"/>
                <a:cs typeface="Calibri" pitchFamily="34" charset="-120"/>
              </a:rPr>
              <a:t>TP1 / BUSINESS INTELLIGENCE</a:t>
            </a:r>
            <a:endParaRPr lang="en-US" sz="1050" dirty="0"/>
          </a:p>
        </p:txBody>
      </p:sp>
      <p:sp>
        <p:nvSpPr>
          <p:cNvPr id="8" name="!!SectionActive"/>
          <p:cNvSpPr/>
          <p:nvPr/>
        </p:nvSpPr>
        <p:spPr>
          <a:xfrm>
            <a:off x="11018520" y="365760"/>
            <a:ext cx="603504" cy="338328"/>
          </a:xfrm>
          <a:prstGeom prst="roundRect">
            <a:avLst>
              <a:gd name="adj" fmla="val 45946"/>
            </a:avLst>
          </a:prstGeom>
          <a:solidFill>
            <a:srgbClr val="102E2E"/>
          </a:solidFill>
          <a:ln w="12700">
            <a:solidFill>
              <a:srgbClr val="102E2E">
                <a:alpha val="0"/>
              </a:srgbClr>
            </a:solidFill>
            <a:prstDash val="solid"/>
          </a:ln>
        </p:spPr>
      </p:sp>
      <p:sp>
        <p:nvSpPr>
          <p:cNvPr id="9" name="Section0"/>
          <p:cNvSpPr txBox="1"/>
          <p:nvPr/>
        </p:nvSpPr>
        <p:spPr>
          <a:xfrm>
            <a:off x="9445752" y="406908"/>
            <a:ext cx="603504" cy="164592"/>
          </a:xfrm>
          <a:prstGeom prst="rect">
            <a:avLst/>
          </a:prstGeom>
          <a:noFill/>
          <a:ln/>
        </p:spPr>
        <p:txBody>
          <a:bodyPr wrap="square" lIns="0" tIns="0" rIns="0" bIns="0" rtlCol="0" anchor="ctr"/>
          <a:lstStyle/>
          <a:p>
            <a:pPr algn="ctr" indent="0" marL="0">
              <a:buNone/>
            </a:pPr>
            <a:r>
              <a:rPr lang="en-US" sz="1100" b="1" dirty="0">
                <a:solidFill>
                  <a:srgbClr val="8CA59C"/>
                </a:solidFill>
                <a:latin typeface="Calibri" pitchFamily="34" charset="0"/>
                <a:ea typeface="Calibri" pitchFamily="34" charset="-122"/>
                <a:cs typeface="Calibri" pitchFamily="34" charset="-120"/>
              </a:rPr>
              <a:t>01</a:t>
            </a:r>
            <a:endParaRPr lang="en-US" sz="1100" dirty="0"/>
          </a:p>
        </p:txBody>
      </p:sp>
      <p:sp>
        <p:nvSpPr>
          <p:cNvPr id="10" name="Section1"/>
          <p:cNvSpPr txBox="1"/>
          <p:nvPr/>
        </p:nvSpPr>
        <p:spPr>
          <a:xfrm>
            <a:off x="10232136" y="406908"/>
            <a:ext cx="603504" cy="164592"/>
          </a:xfrm>
          <a:prstGeom prst="rect">
            <a:avLst/>
          </a:prstGeom>
          <a:noFill/>
          <a:ln/>
        </p:spPr>
        <p:txBody>
          <a:bodyPr wrap="square" lIns="0" tIns="0" rIns="0" bIns="0" rtlCol="0" anchor="ctr"/>
          <a:lstStyle/>
          <a:p>
            <a:pPr algn="ctr" indent="0" marL="0">
              <a:buNone/>
            </a:pPr>
            <a:r>
              <a:rPr lang="en-US" sz="1100" b="1" dirty="0">
                <a:solidFill>
                  <a:srgbClr val="8CA59C"/>
                </a:solidFill>
                <a:latin typeface="Calibri" pitchFamily="34" charset="0"/>
                <a:ea typeface="Calibri" pitchFamily="34" charset="-122"/>
                <a:cs typeface="Calibri" pitchFamily="34" charset="-120"/>
              </a:rPr>
              <a:t>02</a:t>
            </a:r>
            <a:endParaRPr lang="en-US" sz="1100" dirty="0"/>
          </a:p>
        </p:txBody>
      </p:sp>
      <p:sp>
        <p:nvSpPr>
          <p:cNvPr id="11" name="Section2"/>
          <p:cNvSpPr txBox="1"/>
          <p:nvPr/>
        </p:nvSpPr>
        <p:spPr>
          <a:xfrm>
            <a:off x="11018520" y="406908"/>
            <a:ext cx="60350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03</a:t>
            </a:r>
            <a:endParaRPr lang="en-US" sz="1100" dirty="0"/>
          </a:p>
        </p:txBody>
      </p:sp>
      <p:sp>
        <p:nvSpPr>
          <p:cNvPr id="12" name="Text 10"/>
          <p:cNvSpPr txBox="1"/>
          <p:nvPr/>
        </p:nvSpPr>
        <p:spPr>
          <a:xfrm>
            <a:off x="548640" y="932688"/>
            <a:ext cx="10515600" cy="201168"/>
          </a:xfrm>
          <a:prstGeom prst="rect">
            <a:avLst/>
          </a:prstGeom>
          <a:noFill/>
          <a:ln/>
        </p:spPr>
        <p:txBody>
          <a:bodyPr wrap="square" lIns="0" tIns="0" rIns="0" bIns="0" rtlCol="0" anchor="ctr"/>
          <a:lstStyle/>
          <a:p>
            <a:pPr indent="0" marL="0">
              <a:buNone/>
            </a:pPr>
            <a:r>
              <a:rPr lang="en-US" sz="1100" b="1" spc="190" kern="0" dirty="0">
                <a:solidFill>
                  <a:srgbClr val="176C55"/>
                </a:solidFill>
                <a:latin typeface="Calibri" pitchFamily="34" charset="0"/>
                <a:ea typeface="Calibri" pitchFamily="34" charset="-122"/>
                <a:cs typeface="Calibri" pitchFamily="34" charset="-120"/>
              </a:rPr>
              <a:t>03 / KEY PERFORMANCE INDICATORS</a:t>
            </a:r>
            <a:endParaRPr lang="en-US" sz="1100" dirty="0"/>
          </a:p>
        </p:txBody>
      </p:sp>
      <p:sp>
        <p:nvSpPr>
          <p:cNvPr id="13" name="Text 11"/>
          <p:cNvSpPr txBox="1"/>
          <p:nvPr/>
        </p:nvSpPr>
        <p:spPr>
          <a:xfrm>
            <a:off x="548640" y="1298448"/>
            <a:ext cx="10287000" cy="594360"/>
          </a:xfrm>
          <a:prstGeom prst="rect">
            <a:avLst/>
          </a:prstGeom>
          <a:noFill/>
          <a:ln/>
        </p:spPr>
        <p:txBody>
          <a:bodyPr wrap="square" lIns="0" tIns="0" rIns="0" bIns="0" rtlCol="0" anchor="ctr"/>
          <a:lstStyle/>
          <a:p>
            <a:pPr indent="0" marL="0">
              <a:buNone/>
            </a:pPr>
            <a:r>
              <a:rPr lang="en-US" sz="3900" b="1" dirty="0">
                <a:solidFill>
                  <a:srgbClr val="102E2E"/>
                </a:solidFill>
                <a:latin typeface="Calibri" pitchFamily="34" charset="0"/>
                <a:ea typeface="Calibri" pitchFamily="34" charset="-122"/>
                <a:cs typeface="Calibri" pitchFamily="34" charset="-120"/>
              </a:rPr>
              <a:t>Four signals. One reliable view.</a:t>
            </a:r>
            <a:endParaRPr lang="en-US" sz="3900" dirty="0"/>
          </a:p>
        </p:txBody>
      </p:sp>
      <p:sp>
        <p:nvSpPr>
          <p:cNvPr id="14" name="!!TokenCore"/>
          <p:cNvSpPr/>
          <p:nvPr/>
        </p:nvSpPr>
        <p:spPr>
          <a:xfrm>
            <a:off x="10995660" y="1385316"/>
            <a:ext cx="502920" cy="502920"/>
          </a:xfrm>
          <a:prstGeom prst="ellipse">
            <a:avLst/>
          </a:prstGeom>
          <a:solidFill>
            <a:srgbClr val="102E2E"/>
          </a:solidFill>
          <a:ln w="12700">
            <a:solidFill>
              <a:srgbClr val="102E2E">
                <a:alpha val="0"/>
              </a:srgbClr>
            </a:solidFill>
            <a:prstDash val="solid"/>
          </a:ln>
        </p:spPr>
      </p:sp>
      <p:sp>
        <p:nvSpPr>
          <p:cNvPr id="15" name="!!GpuCore"/>
          <p:cNvSpPr/>
          <p:nvPr/>
        </p:nvSpPr>
        <p:spPr>
          <a:xfrm>
            <a:off x="11156594" y="1546250"/>
            <a:ext cx="181051" cy="181051"/>
          </a:xfrm>
          <a:prstGeom prst="roundRect">
            <a:avLst>
              <a:gd name="adj" fmla="val 17677"/>
            </a:avLst>
          </a:prstGeom>
          <a:solidFill>
            <a:srgbClr val="BDFADE"/>
          </a:solidFill>
          <a:ln w="12700">
            <a:solidFill>
              <a:srgbClr val="BDFADE">
                <a:alpha val="0"/>
              </a:srgbClr>
            </a:solidFill>
            <a:prstDash val="solid"/>
          </a:ln>
        </p:spPr>
      </p:sp>
      <p:sp>
        <p:nvSpPr>
          <p:cNvPr id="16" name="Shape 14"/>
          <p:cNvSpPr/>
          <p:nvPr/>
        </p:nvSpPr>
        <p:spPr>
          <a:xfrm>
            <a:off x="11186770" y="1490929"/>
            <a:ext cx="0" cy="50292"/>
          </a:xfrm>
          <a:prstGeom prst="line">
            <a:avLst/>
          </a:prstGeom>
          <a:noFill/>
          <a:ln w="13970">
            <a:solidFill>
              <a:srgbClr val="BDFADE"/>
            </a:solidFill>
            <a:prstDash val="solid"/>
          </a:ln>
        </p:spPr>
      </p:sp>
      <p:sp>
        <p:nvSpPr>
          <p:cNvPr id="17" name="Shape 15"/>
          <p:cNvSpPr/>
          <p:nvPr/>
        </p:nvSpPr>
        <p:spPr>
          <a:xfrm>
            <a:off x="11186770" y="1732331"/>
            <a:ext cx="0" cy="50292"/>
          </a:xfrm>
          <a:prstGeom prst="line">
            <a:avLst/>
          </a:prstGeom>
          <a:noFill/>
          <a:ln w="13970">
            <a:solidFill>
              <a:srgbClr val="BDFADE"/>
            </a:solidFill>
            <a:prstDash val="solid"/>
          </a:ln>
        </p:spPr>
      </p:sp>
      <p:sp>
        <p:nvSpPr>
          <p:cNvPr id="18" name="Shape 16"/>
          <p:cNvSpPr/>
          <p:nvPr/>
        </p:nvSpPr>
        <p:spPr>
          <a:xfrm>
            <a:off x="11101273" y="1576426"/>
            <a:ext cx="50292" cy="0"/>
          </a:xfrm>
          <a:prstGeom prst="line">
            <a:avLst/>
          </a:prstGeom>
          <a:noFill/>
          <a:ln w="13970">
            <a:solidFill>
              <a:srgbClr val="BDFADE"/>
            </a:solidFill>
            <a:prstDash val="solid"/>
          </a:ln>
        </p:spPr>
      </p:sp>
      <p:sp>
        <p:nvSpPr>
          <p:cNvPr id="19" name="Shape 17"/>
          <p:cNvSpPr/>
          <p:nvPr/>
        </p:nvSpPr>
        <p:spPr>
          <a:xfrm>
            <a:off x="11342675" y="1576426"/>
            <a:ext cx="50292" cy="0"/>
          </a:xfrm>
          <a:prstGeom prst="line">
            <a:avLst/>
          </a:prstGeom>
          <a:noFill/>
          <a:ln w="13970">
            <a:solidFill>
              <a:srgbClr val="BDFADE"/>
            </a:solidFill>
            <a:prstDash val="solid"/>
          </a:ln>
        </p:spPr>
      </p:sp>
      <p:sp>
        <p:nvSpPr>
          <p:cNvPr id="20" name="Shape 18"/>
          <p:cNvSpPr/>
          <p:nvPr/>
        </p:nvSpPr>
        <p:spPr>
          <a:xfrm>
            <a:off x="11247120" y="1490929"/>
            <a:ext cx="0" cy="50292"/>
          </a:xfrm>
          <a:prstGeom prst="line">
            <a:avLst/>
          </a:prstGeom>
          <a:noFill/>
          <a:ln w="13970">
            <a:solidFill>
              <a:srgbClr val="BDFADE"/>
            </a:solidFill>
            <a:prstDash val="solid"/>
          </a:ln>
        </p:spPr>
      </p:sp>
      <p:sp>
        <p:nvSpPr>
          <p:cNvPr id="21" name="Shape 19"/>
          <p:cNvSpPr/>
          <p:nvPr/>
        </p:nvSpPr>
        <p:spPr>
          <a:xfrm>
            <a:off x="11247120" y="1732331"/>
            <a:ext cx="0" cy="50292"/>
          </a:xfrm>
          <a:prstGeom prst="line">
            <a:avLst/>
          </a:prstGeom>
          <a:noFill/>
          <a:ln w="13970">
            <a:solidFill>
              <a:srgbClr val="BDFADE"/>
            </a:solidFill>
            <a:prstDash val="solid"/>
          </a:ln>
        </p:spPr>
      </p:sp>
      <p:sp>
        <p:nvSpPr>
          <p:cNvPr id="22" name="Shape 20"/>
          <p:cNvSpPr/>
          <p:nvPr/>
        </p:nvSpPr>
        <p:spPr>
          <a:xfrm>
            <a:off x="11101273" y="1636776"/>
            <a:ext cx="50292" cy="0"/>
          </a:xfrm>
          <a:prstGeom prst="line">
            <a:avLst/>
          </a:prstGeom>
          <a:noFill/>
          <a:ln w="13970">
            <a:solidFill>
              <a:srgbClr val="BDFADE"/>
            </a:solidFill>
            <a:prstDash val="solid"/>
          </a:ln>
        </p:spPr>
      </p:sp>
      <p:sp>
        <p:nvSpPr>
          <p:cNvPr id="23" name="Shape 21"/>
          <p:cNvSpPr/>
          <p:nvPr/>
        </p:nvSpPr>
        <p:spPr>
          <a:xfrm>
            <a:off x="11342675" y="1636776"/>
            <a:ext cx="50292" cy="0"/>
          </a:xfrm>
          <a:prstGeom prst="line">
            <a:avLst/>
          </a:prstGeom>
          <a:noFill/>
          <a:ln w="13970">
            <a:solidFill>
              <a:srgbClr val="BDFADE"/>
            </a:solidFill>
            <a:prstDash val="solid"/>
          </a:ln>
        </p:spPr>
      </p:sp>
      <p:sp>
        <p:nvSpPr>
          <p:cNvPr id="24" name="Shape 22"/>
          <p:cNvSpPr/>
          <p:nvPr/>
        </p:nvSpPr>
        <p:spPr>
          <a:xfrm>
            <a:off x="11307470" y="1490929"/>
            <a:ext cx="0" cy="50292"/>
          </a:xfrm>
          <a:prstGeom prst="line">
            <a:avLst/>
          </a:prstGeom>
          <a:noFill/>
          <a:ln w="13970">
            <a:solidFill>
              <a:srgbClr val="BDFADE"/>
            </a:solidFill>
            <a:prstDash val="solid"/>
          </a:ln>
        </p:spPr>
      </p:sp>
      <p:sp>
        <p:nvSpPr>
          <p:cNvPr id="25" name="Shape 23"/>
          <p:cNvSpPr/>
          <p:nvPr/>
        </p:nvSpPr>
        <p:spPr>
          <a:xfrm>
            <a:off x="11307470" y="1732331"/>
            <a:ext cx="0" cy="50292"/>
          </a:xfrm>
          <a:prstGeom prst="line">
            <a:avLst/>
          </a:prstGeom>
          <a:noFill/>
          <a:ln w="13970">
            <a:solidFill>
              <a:srgbClr val="BDFADE"/>
            </a:solidFill>
            <a:prstDash val="solid"/>
          </a:ln>
        </p:spPr>
      </p:sp>
      <p:sp>
        <p:nvSpPr>
          <p:cNvPr id="26" name="Shape 24"/>
          <p:cNvSpPr/>
          <p:nvPr/>
        </p:nvSpPr>
        <p:spPr>
          <a:xfrm>
            <a:off x="11101273" y="1697126"/>
            <a:ext cx="50292" cy="0"/>
          </a:xfrm>
          <a:prstGeom prst="line">
            <a:avLst/>
          </a:prstGeom>
          <a:noFill/>
          <a:ln w="13970">
            <a:solidFill>
              <a:srgbClr val="BDFADE"/>
            </a:solidFill>
            <a:prstDash val="solid"/>
          </a:ln>
        </p:spPr>
      </p:sp>
      <p:sp>
        <p:nvSpPr>
          <p:cNvPr id="27" name="Shape 25"/>
          <p:cNvSpPr/>
          <p:nvPr/>
        </p:nvSpPr>
        <p:spPr>
          <a:xfrm>
            <a:off x="11342675" y="1697126"/>
            <a:ext cx="50292" cy="0"/>
          </a:xfrm>
          <a:prstGeom prst="line">
            <a:avLst/>
          </a:prstGeom>
          <a:noFill/>
          <a:ln w="13970">
            <a:solidFill>
              <a:srgbClr val="BDFADE"/>
            </a:solidFill>
            <a:prstDash val="solid"/>
          </a:ln>
        </p:spPr>
      </p:sp>
      <p:sp>
        <p:nvSpPr>
          <p:cNvPr id="28" name="Text 26"/>
          <p:cNvSpPr txBox="1"/>
          <p:nvPr/>
        </p:nvSpPr>
        <p:spPr>
          <a:xfrm>
            <a:off x="576072" y="1920240"/>
            <a:ext cx="3657600" cy="164592"/>
          </a:xfrm>
          <a:prstGeom prst="rect">
            <a:avLst/>
          </a:prstGeom>
          <a:noFill/>
          <a:ln/>
        </p:spPr>
        <p:txBody>
          <a:bodyPr wrap="square" lIns="0" tIns="0" rIns="0" bIns="0" rtlCol="0" anchor="ctr"/>
          <a:lstStyle/>
          <a:p>
            <a:pPr indent="0" marL="0">
              <a:buNone/>
            </a:pPr>
            <a:r>
              <a:rPr lang="en-US" sz="1150" dirty="0">
                <a:solidFill>
                  <a:srgbClr val="526661"/>
                </a:solidFill>
                <a:latin typeface="Calibri" pitchFamily="34" charset="0"/>
                <a:ea typeface="Calibri" pitchFamily="34" charset="-122"/>
                <a:cs typeface="Calibri" pitchFamily="34" charset="-120"/>
              </a:rPr>
              <a:t>M = one million tokens</a:t>
            </a:r>
            <a:endParaRPr lang="en-US" sz="1150" dirty="0"/>
          </a:p>
        </p:txBody>
      </p:sp>
      <p:sp>
        <p:nvSpPr>
          <p:cNvPr id="29" name="Shape 27"/>
          <p:cNvSpPr/>
          <p:nvPr/>
        </p:nvSpPr>
        <p:spPr>
          <a:xfrm>
            <a:off x="548640" y="2157984"/>
            <a:ext cx="2633472" cy="1453896"/>
          </a:xfrm>
          <a:prstGeom prst="roundRect">
            <a:avLst>
              <a:gd name="adj" fmla="val 10063"/>
            </a:avLst>
          </a:prstGeom>
          <a:solidFill>
            <a:srgbClr val="102E2E"/>
          </a:solidFill>
          <a:ln w="12700">
            <a:solidFill>
              <a:srgbClr val="102E2E">
                <a:alpha val="0"/>
              </a:srgbClr>
            </a:solidFill>
            <a:prstDash val="solid"/>
          </a:ln>
        </p:spPr>
      </p:sp>
      <p:pic>
        <p:nvPicPr>
          <p:cNvPr id="30" name="Image 0" descr="revenue icon">    </p:cNvPr>
          <p:cNvPicPr>
            <a:picLocks noChangeAspect="1"/>
          </p:cNvPicPr>
          <p:nvPr/>
        </p:nvPicPr>
        <p:blipFill>
          <a:blip r:embed="rId1"/>
          <a:stretch>
            <a:fillRect/>
          </a:stretch>
        </p:blipFill>
        <p:spPr>
          <a:xfrm>
            <a:off x="713232" y="2313432"/>
            <a:ext cx="265176" cy="265176"/>
          </a:xfrm>
          <a:prstGeom prst="rect">
            <a:avLst/>
          </a:prstGeom>
        </p:spPr>
      </p:pic>
      <p:sp>
        <p:nvSpPr>
          <p:cNvPr id="31" name="Text 28"/>
          <p:cNvSpPr txBox="1"/>
          <p:nvPr/>
        </p:nvSpPr>
        <p:spPr>
          <a:xfrm>
            <a:off x="2615184" y="2331720"/>
            <a:ext cx="347472" cy="182880"/>
          </a:xfrm>
          <a:prstGeom prst="rect">
            <a:avLst/>
          </a:prstGeom>
          <a:noFill/>
          <a:ln/>
        </p:spPr>
        <p:txBody>
          <a:bodyPr wrap="square" lIns="0" tIns="0" rIns="0" bIns="0" rtlCol="0" anchor="ctr"/>
          <a:lstStyle/>
          <a:p>
            <a:pPr algn="r" indent="0" marL="0">
              <a:buNone/>
            </a:pPr>
            <a:r>
              <a:rPr lang="en-US" sz="1100" b="1" dirty="0">
                <a:solidFill>
                  <a:srgbClr val="BDFADE"/>
                </a:solidFill>
                <a:latin typeface="Calibri" pitchFamily="34" charset="0"/>
                <a:ea typeface="Calibri" pitchFamily="34" charset="-122"/>
                <a:cs typeface="Calibri" pitchFamily="34" charset="-120"/>
              </a:rPr>
              <a:t>01</a:t>
            </a:r>
            <a:endParaRPr lang="en-US" sz="1100" dirty="0"/>
          </a:p>
        </p:txBody>
      </p:sp>
      <p:sp>
        <p:nvSpPr>
          <p:cNvPr id="32" name="Text 29"/>
          <p:cNvSpPr txBox="1"/>
          <p:nvPr/>
        </p:nvSpPr>
        <p:spPr>
          <a:xfrm>
            <a:off x="722376" y="2734056"/>
            <a:ext cx="2331720" cy="2743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Total revenue</a:t>
            </a:r>
            <a:endParaRPr lang="en-US" sz="2000" dirty="0"/>
          </a:p>
        </p:txBody>
      </p:sp>
      <p:sp>
        <p:nvSpPr>
          <p:cNvPr id="33" name="Text 30"/>
          <p:cNvSpPr txBox="1"/>
          <p:nvPr/>
        </p:nvSpPr>
        <p:spPr>
          <a:xfrm>
            <a:off x="722376" y="3136392"/>
            <a:ext cx="2331720" cy="201168"/>
          </a:xfrm>
          <a:prstGeom prst="rect">
            <a:avLst/>
          </a:prstGeom>
          <a:noFill/>
          <a:ln/>
        </p:spPr>
        <p:txBody>
          <a:bodyPr wrap="square" lIns="0" tIns="0" rIns="0" bIns="0" rtlCol="0" anchor="ctr"/>
          <a:lstStyle/>
          <a:p>
            <a:pPr indent="0" marL="0">
              <a:buNone/>
            </a:pPr>
            <a:r>
              <a:rPr lang="en-US" sz="1460" dirty="0">
                <a:solidFill>
                  <a:srgbClr val="BDFADE"/>
                </a:solidFill>
                <a:latin typeface="Calibri" pitchFamily="34" charset="0"/>
                <a:ea typeface="Calibri" pitchFamily="34" charset="-122"/>
                <a:cs typeface="Calibri" pitchFamily="34" charset="-120"/>
              </a:rPr>
              <a:t>Σ (M tokens × price / M)</a:t>
            </a:r>
            <a:endParaRPr lang="en-US" sz="1460" dirty="0"/>
          </a:p>
        </p:txBody>
      </p:sp>
      <p:sp>
        <p:nvSpPr>
          <p:cNvPr id="34" name="Text 31"/>
          <p:cNvSpPr txBox="1"/>
          <p:nvPr/>
        </p:nvSpPr>
        <p:spPr>
          <a:xfrm>
            <a:off x="722376" y="3429000"/>
            <a:ext cx="2331720" cy="137160"/>
          </a:xfrm>
          <a:prstGeom prst="rect">
            <a:avLst/>
          </a:prstGeom>
          <a:noFill/>
          <a:ln/>
        </p:spPr>
        <p:txBody>
          <a:bodyPr wrap="square" lIns="0" tIns="0" rIns="0" bIns="0" rtlCol="0" anchor="ctr"/>
          <a:lstStyle/>
          <a:p>
            <a:pPr indent="0" marL="0">
              <a:buNone/>
            </a:pPr>
            <a:r>
              <a:rPr lang="en-US" sz="1150" dirty="0">
                <a:solidFill>
                  <a:srgbClr val="C7D8D1"/>
                </a:solidFill>
                <a:latin typeface="Calibri" pitchFamily="34" charset="0"/>
                <a:ea typeface="Calibri" pitchFamily="34" charset="-122"/>
                <a:cs typeface="Calibri" pitchFamily="34" charset="-120"/>
              </a:rPr>
              <a:t>Business health</a:t>
            </a:r>
            <a:endParaRPr lang="en-US" sz="1150" dirty="0"/>
          </a:p>
        </p:txBody>
      </p:sp>
      <p:sp>
        <p:nvSpPr>
          <p:cNvPr id="35" name="Shape 32"/>
          <p:cNvSpPr/>
          <p:nvPr/>
        </p:nvSpPr>
        <p:spPr>
          <a:xfrm>
            <a:off x="3374136" y="2157984"/>
            <a:ext cx="2633472" cy="1453896"/>
          </a:xfrm>
          <a:prstGeom prst="roundRect">
            <a:avLst>
              <a:gd name="adj" fmla="val 10063"/>
            </a:avLst>
          </a:prstGeom>
          <a:solidFill>
            <a:srgbClr val="F2F7F5"/>
          </a:solidFill>
          <a:ln w="12700">
            <a:solidFill>
              <a:srgbClr val="F2F7F5">
                <a:alpha val="0"/>
              </a:srgbClr>
            </a:solidFill>
            <a:prstDash val="solid"/>
          </a:ln>
        </p:spPr>
      </p:sp>
      <p:pic>
        <p:nvPicPr>
          <p:cNvPr id="36" name="Image 1" descr="tokens icon">    </p:cNvPr>
          <p:cNvPicPr>
            <a:picLocks noChangeAspect="1"/>
          </p:cNvPicPr>
          <p:nvPr/>
        </p:nvPicPr>
        <p:blipFill>
          <a:blip r:embed="rId2"/>
          <a:stretch>
            <a:fillRect/>
          </a:stretch>
        </p:blipFill>
        <p:spPr>
          <a:xfrm>
            <a:off x="3538728" y="2313432"/>
            <a:ext cx="265176" cy="265176"/>
          </a:xfrm>
          <a:prstGeom prst="rect">
            <a:avLst/>
          </a:prstGeom>
        </p:spPr>
      </p:pic>
      <p:sp>
        <p:nvSpPr>
          <p:cNvPr id="37" name="Text 33"/>
          <p:cNvSpPr txBox="1"/>
          <p:nvPr/>
        </p:nvSpPr>
        <p:spPr>
          <a:xfrm>
            <a:off x="5440680" y="2331720"/>
            <a:ext cx="347472" cy="182880"/>
          </a:xfrm>
          <a:prstGeom prst="rect">
            <a:avLst/>
          </a:prstGeom>
          <a:noFill/>
          <a:ln/>
        </p:spPr>
        <p:txBody>
          <a:bodyPr wrap="square" lIns="0" tIns="0" rIns="0" bIns="0" rtlCol="0" anchor="ctr"/>
          <a:lstStyle/>
          <a:p>
            <a:pPr algn="r" indent="0" marL="0">
              <a:buNone/>
            </a:pPr>
            <a:r>
              <a:rPr lang="en-US" sz="1100" b="1" dirty="0">
                <a:solidFill>
                  <a:srgbClr val="176C55"/>
                </a:solidFill>
                <a:latin typeface="Calibri" pitchFamily="34" charset="0"/>
                <a:ea typeface="Calibri" pitchFamily="34" charset="-122"/>
                <a:cs typeface="Calibri" pitchFamily="34" charset="-120"/>
              </a:rPr>
              <a:t>02</a:t>
            </a:r>
            <a:endParaRPr lang="en-US" sz="1100" dirty="0"/>
          </a:p>
        </p:txBody>
      </p:sp>
      <p:sp>
        <p:nvSpPr>
          <p:cNvPr id="38" name="Text 34"/>
          <p:cNvSpPr txBox="1"/>
          <p:nvPr/>
        </p:nvSpPr>
        <p:spPr>
          <a:xfrm>
            <a:off x="3547872" y="2734056"/>
            <a:ext cx="2331720" cy="274320"/>
          </a:xfrm>
          <a:prstGeom prst="rect">
            <a:avLst/>
          </a:prstGeom>
          <a:noFill/>
          <a:ln/>
        </p:spPr>
        <p:txBody>
          <a:bodyPr wrap="square" lIns="0" tIns="0" rIns="0" bIns="0" rtlCol="0" anchor="ctr"/>
          <a:lstStyle/>
          <a:p>
            <a:pPr indent="0" marL="0">
              <a:buNone/>
            </a:pPr>
            <a:r>
              <a:rPr lang="en-US" sz="2000" b="1" dirty="0">
                <a:solidFill>
                  <a:srgbClr val="102E2E"/>
                </a:solidFill>
                <a:latin typeface="Calibri" pitchFamily="34" charset="0"/>
                <a:ea typeface="Calibri" pitchFamily="34" charset="-122"/>
                <a:cs typeface="Calibri" pitchFamily="34" charset="-120"/>
              </a:rPr>
              <a:t>Total tokens sold</a:t>
            </a:r>
            <a:endParaRPr lang="en-US" sz="2000" dirty="0"/>
          </a:p>
        </p:txBody>
      </p:sp>
      <p:sp>
        <p:nvSpPr>
          <p:cNvPr id="39" name="Text 35"/>
          <p:cNvSpPr txBox="1"/>
          <p:nvPr/>
        </p:nvSpPr>
        <p:spPr>
          <a:xfrm>
            <a:off x="3547872" y="3136392"/>
            <a:ext cx="2331720" cy="201168"/>
          </a:xfrm>
          <a:prstGeom prst="rect">
            <a:avLst/>
          </a:prstGeom>
          <a:noFill/>
          <a:ln/>
        </p:spPr>
        <p:txBody>
          <a:bodyPr wrap="square" lIns="0" tIns="0" rIns="0" bIns="0" rtlCol="0" anchor="ctr"/>
          <a:lstStyle/>
          <a:p>
            <a:pPr indent="0" marL="0">
              <a:buNone/>
            </a:pPr>
            <a:r>
              <a:rPr lang="en-US" sz="1460" dirty="0">
                <a:solidFill>
                  <a:srgbClr val="176C55"/>
                </a:solidFill>
                <a:latin typeface="Calibri" pitchFamily="34" charset="0"/>
                <a:ea typeface="Calibri" pitchFamily="34" charset="-122"/>
                <a:cs typeface="Calibri" pitchFamily="34" charset="-120"/>
              </a:rPr>
              <a:t>Σ million tokens</a:t>
            </a:r>
            <a:endParaRPr lang="en-US" sz="1460" dirty="0"/>
          </a:p>
        </p:txBody>
      </p:sp>
      <p:sp>
        <p:nvSpPr>
          <p:cNvPr id="40" name="Text 36"/>
          <p:cNvSpPr txBox="1"/>
          <p:nvPr/>
        </p:nvSpPr>
        <p:spPr>
          <a:xfrm>
            <a:off x="3547872" y="3429000"/>
            <a:ext cx="2331720" cy="137160"/>
          </a:xfrm>
          <a:prstGeom prst="rect">
            <a:avLst/>
          </a:prstGeom>
          <a:noFill/>
          <a:ln/>
        </p:spPr>
        <p:txBody>
          <a:bodyPr wrap="square" lIns="0" tIns="0" rIns="0" bIns="0" rtlCol="0" anchor="ctr"/>
          <a:lstStyle/>
          <a:p>
            <a:pPr indent="0" marL="0">
              <a:buNone/>
            </a:pPr>
            <a:r>
              <a:rPr lang="en-US" sz="1150" dirty="0">
                <a:solidFill>
                  <a:srgbClr val="526661"/>
                </a:solidFill>
                <a:latin typeface="Calibri" pitchFamily="34" charset="0"/>
                <a:ea typeface="Calibri" pitchFamily="34" charset="-122"/>
                <a:cs typeface="Calibri" pitchFamily="34" charset="-120"/>
              </a:rPr>
              <a:t>Demand &amp; capacity</a:t>
            </a:r>
            <a:endParaRPr lang="en-US" sz="1150" dirty="0"/>
          </a:p>
        </p:txBody>
      </p:sp>
      <p:sp>
        <p:nvSpPr>
          <p:cNvPr id="41" name="Shape 37"/>
          <p:cNvSpPr/>
          <p:nvPr/>
        </p:nvSpPr>
        <p:spPr>
          <a:xfrm>
            <a:off x="6199632" y="2157984"/>
            <a:ext cx="2633472" cy="1453896"/>
          </a:xfrm>
          <a:prstGeom prst="roundRect">
            <a:avLst>
              <a:gd name="adj" fmla="val 10063"/>
            </a:avLst>
          </a:prstGeom>
          <a:solidFill>
            <a:srgbClr val="F2F7F5"/>
          </a:solidFill>
          <a:ln w="12700">
            <a:solidFill>
              <a:srgbClr val="F2F7F5">
                <a:alpha val="0"/>
              </a:srgbClr>
            </a:solidFill>
            <a:prstDash val="solid"/>
          </a:ln>
        </p:spPr>
      </p:sp>
      <p:pic>
        <p:nvPicPr>
          <p:cNvPr id="42" name="Image 2" descr="invoice icon">    </p:cNvPr>
          <p:cNvPicPr>
            <a:picLocks noChangeAspect="1"/>
          </p:cNvPicPr>
          <p:nvPr/>
        </p:nvPicPr>
        <p:blipFill>
          <a:blip r:embed="rId3"/>
          <a:stretch>
            <a:fillRect/>
          </a:stretch>
        </p:blipFill>
        <p:spPr>
          <a:xfrm>
            <a:off x="6364224" y="2313432"/>
            <a:ext cx="265176" cy="265176"/>
          </a:xfrm>
          <a:prstGeom prst="rect">
            <a:avLst/>
          </a:prstGeom>
        </p:spPr>
      </p:pic>
      <p:sp>
        <p:nvSpPr>
          <p:cNvPr id="43" name="Text 38"/>
          <p:cNvSpPr txBox="1"/>
          <p:nvPr/>
        </p:nvSpPr>
        <p:spPr>
          <a:xfrm>
            <a:off x="8266176" y="2331720"/>
            <a:ext cx="347472" cy="182880"/>
          </a:xfrm>
          <a:prstGeom prst="rect">
            <a:avLst/>
          </a:prstGeom>
          <a:noFill/>
          <a:ln/>
        </p:spPr>
        <p:txBody>
          <a:bodyPr wrap="square" lIns="0" tIns="0" rIns="0" bIns="0" rtlCol="0" anchor="ctr"/>
          <a:lstStyle/>
          <a:p>
            <a:pPr algn="r" indent="0" marL="0">
              <a:buNone/>
            </a:pPr>
            <a:r>
              <a:rPr lang="en-US" sz="1100" b="1" dirty="0">
                <a:solidFill>
                  <a:srgbClr val="176C55"/>
                </a:solidFill>
                <a:latin typeface="Calibri" pitchFamily="34" charset="0"/>
                <a:ea typeface="Calibri" pitchFamily="34" charset="-122"/>
                <a:cs typeface="Calibri" pitchFamily="34" charset="-120"/>
              </a:rPr>
              <a:t>03</a:t>
            </a:r>
            <a:endParaRPr lang="en-US" sz="1100" dirty="0"/>
          </a:p>
        </p:txBody>
      </p:sp>
      <p:sp>
        <p:nvSpPr>
          <p:cNvPr id="44" name="Text 39"/>
          <p:cNvSpPr txBox="1"/>
          <p:nvPr/>
        </p:nvSpPr>
        <p:spPr>
          <a:xfrm>
            <a:off x="6373368" y="2734056"/>
            <a:ext cx="2331720" cy="274320"/>
          </a:xfrm>
          <a:prstGeom prst="rect">
            <a:avLst/>
          </a:prstGeom>
          <a:noFill/>
          <a:ln/>
        </p:spPr>
        <p:txBody>
          <a:bodyPr wrap="square" lIns="0" tIns="0" rIns="0" bIns="0" rtlCol="0" anchor="ctr"/>
          <a:lstStyle/>
          <a:p>
            <a:pPr indent="0" marL="0">
              <a:buNone/>
            </a:pPr>
            <a:r>
              <a:rPr lang="en-US" sz="2000" b="1" dirty="0">
                <a:solidFill>
                  <a:srgbClr val="102E2E"/>
                </a:solidFill>
                <a:latin typeface="Calibri" pitchFamily="34" charset="0"/>
                <a:ea typeface="Calibri" pitchFamily="34" charset="-122"/>
                <a:cs typeface="Calibri" pitchFamily="34" charset="-120"/>
              </a:rPr>
              <a:t>Average invoice value</a:t>
            </a:r>
            <a:endParaRPr lang="en-US" sz="2000" dirty="0"/>
          </a:p>
        </p:txBody>
      </p:sp>
      <p:sp>
        <p:nvSpPr>
          <p:cNvPr id="45" name="Text 40"/>
          <p:cNvSpPr txBox="1"/>
          <p:nvPr/>
        </p:nvSpPr>
        <p:spPr>
          <a:xfrm>
            <a:off x="6373368" y="3136392"/>
            <a:ext cx="2331720" cy="201168"/>
          </a:xfrm>
          <a:prstGeom prst="rect">
            <a:avLst/>
          </a:prstGeom>
          <a:noFill/>
          <a:ln/>
        </p:spPr>
        <p:txBody>
          <a:bodyPr wrap="square" lIns="0" tIns="0" rIns="0" bIns="0" rtlCol="0" anchor="ctr"/>
          <a:lstStyle/>
          <a:p>
            <a:pPr indent="0" marL="0">
              <a:buNone/>
            </a:pPr>
            <a:r>
              <a:rPr lang="en-US" sz="1460" dirty="0">
                <a:solidFill>
                  <a:srgbClr val="176C55"/>
                </a:solidFill>
                <a:latin typeface="Calibri" pitchFamily="34" charset="0"/>
                <a:ea typeface="Calibri" pitchFamily="34" charset="-122"/>
                <a:cs typeface="Calibri" pitchFamily="34" charset="-120"/>
              </a:rPr>
              <a:t>Revenue ÷ invoice count</a:t>
            </a:r>
            <a:endParaRPr lang="en-US" sz="1460" dirty="0"/>
          </a:p>
        </p:txBody>
      </p:sp>
      <p:sp>
        <p:nvSpPr>
          <p:cNvPr id="46" name="Text 41"/>
          <p:cNvSpPr txBox="1"/>
          <p:nvPr/>
        </p:nvSpPr>
        <p:spPr>
          <a:xfrm>
            <a:off x="6373368" y="3429000"/>
            <a:ext cx="2331720" cy="137160"/>
          </a:xfrm>
          <a:prstGeom prst="rect">
            <a:avLst/>
          </a:prstGeom>
          <a:noFill/>
          <a:ln/>
        </p:spPr>
        <p:txBody>
          <a:bodyPr wrap="square" lIns="0" tIns="0" rIns="0" bIns="0" rtlCol="0" anchor="ctr"/>
          <a:lstStyle/>
          <a:p>
            <a:pPr indent="0" marL="0">
              <a:buNone/>
            </a:pPr>
            <a:r>
              <a:rPr lang="en-US" sz="1150" dirty="0">
                <a:solidFill>
                  <a:srgbClr val="526661"/>
                </a:solidFill>
                <a:latin typeface="Calibri" pitchFamily="34" charset="0"/>
                <a:ea typeface="Calibri" pitchFamily="34" charset="-122"/>
                <a:cs typeface="Calibri" pitchFamily="34" charset="-120"/>
              </a:rPr>
              <a:t>Pricing &amp; upselling</a:t>
            </a:r>
            <a:endParaRPr lang="en-US" sz="1150" dirty="0"/>
          </a:p>
        </p:txBody>
      </p:sp>
      <p:sp>
        <p:nvSpPr>
          <p:cNvPr id="47" name="Shape 42"/>
          <p:cNvSpPr/>
          <p:nvPr/>
        </p:nvSpPr>
        <p:spPr>
          <a:xfrm>
            <a:off x="9025128" y="2157984"/>
            <a:ext cx="2633472" cy="1453896"/>
          </a:xfrm>
          <a:prstGeom prst="roundRect">
            <a:avLst>
              <a:gd name="adj" fmla="val 10063"/>
            </a:avLst>
          </a:prstGeom>
          <a:solidFill>
            <a:srgbClr val="F2F7F5"/>
          </a:solidFill>
          <a:ln w="12700">
            <a:solidFill>
              <a:srgbClr val="F2F7F5">
                <a:alpha val="0"/>
              </a:srgbClr>
            </a:solidFill>
            <a:prstDash val="solid"/>
          </a:ln>
        </p:spPr>
      </p:sp>
      <p:pic>
        <p:nvPicPr>
          <p:cNvPr id="48" name="Image 3" descr="growth icon">    </p:cNvPr>
          <p:cNvPicPr>
            <a:picLocks noChangeAspect="1"/>
          </p:cNvPicPr>
          <p:nvPr/>
        </p:nvPicPr>
        <p:blipFill>
          <a:blip r:embed="rId4"/>
          <a:stretch>
            <a:fillRect/>
          </a:stretch>
        </p:blipFill>
        <p:spPr>
          <a:xfrm>
            <a:off x="9189720" y="2313432"/>
            <a:ext cx="265176" cy="265176"/>
          </a:xfrm>
          <a:prstGeom prst="rect">
            <a:avLst/>
          </a:prstGeom>
        </p:spPr>
      </p:pic>
      <p:sp>
        <p:nvSpPr>
          <p:cNvPr id="49" name="Text 43"/>
          <p:cNvSpPr txBox="1"/>
          <p:nvPr/>
        </p:nvSpPr>
        <p:spPr>
          <a:xfrm>
            <a:off x="11091672" y="2331720"/>
            <a:ext cx="347472" cy="182880"/>
          </a:xfrm>
          <a:prstGeom prst="rect">
            <a:avLst/>
          </a:prstGeom>
          <a:noFill/>
          <a:ln/>
        </p:spPr>
        <p:txBody>
          <a:bodyPr wrap="square" lIns="0" tIns="0" rIns="0" bIns="0" rtlCol="0" anchor="ctr"/>
          <a:lstStyle/>
          <a:p>
            <a:pPr algn="r" indent="0" marL="0">
              <a:buNone/>
            </a:pPr>
            <a:r>
              <a:rPr lang="en-US" sz="1100" b="1" dirty="0">
                <a:solidFill>
                  <a:srgbClr val="176C55"/>
                </a:solidFill>
                <a:latin typeface="Calibri" pitchFamily="34" charset="0"/>
                <a:ea typeface="Calibri" pitchFamily="34" charset="-122"/>
                <a:cs typeface="Calibri" pitchFamily="34" charset="-120"/>
              </a:rPr>
              <a:t>04</a:t>
            </a:r>
            <a:endParaRPr lang="en-US" sz="1100" dirty="0"/>
          </a:p>
        </p:txBody>
      </p:sp>
      <p:sp>
        <p:nvSpPr>
          <p:cNvPr id="50" name="Text 44"/>
          <p:cNvSpPr txBox="1"/>
          <p:nvPr/>
        </p:nvSpPr>
        <p:spPr>
          <a:xfrm>
            <a:off x="9198864" y="2734056"/>
            <a:ext cx="2331720" cy="274320"/>
          </a:xfrm>
          <a:prstGeom prst="rect">
            <a:avLst/>
          </a:prstGeom>
          <a:noFill/>
          <a:ln/>
        </p:spPr>
        <p:txBody>
          <a:bodyPr wrap="square" lIns="0" tIns="0" rIns="0" bIns="0" rtlCol="0" anchor="ctr"/>
          <a:lstStyle/>
          <a:p>
            <a:pPr indent="0" marL="0">
              <a:buNone/>
            </a:pPr>
            <a:r>
              <a:rPr lang="en-US" sz="2000" b="1" dirty="0">
                <a:solidFill>
                  <a:srgbClr val="102E2E"/>
                </a:solidFill>
                <a:latin typeface="Calibri" pitchFamily="34" charset="0"/>
                <a:ea typeface="Calibri" pitchFamily="34" charset="-122"/>
                <a:cs typeface="Calibri" pitchFamily="34" charset="-120"/>
              </a:rPr>
              <a:t>MoM revenue growth</a:t>
            </a:r>
            <a:endParaRPr lang="en-US" sz="2000" dirty="0"/>
          </a:p>
        </p:txBody>
      </p:sp>
      <p:sp>
        <p:nvSpPr>
          <p:cNvPr id="51" name="Text 45"/>
          <p:cNvSpPr txBox="1"/>
          <p:nvPr/>
        </p:nvSpPr>
        <p:spPr>
          <a:xfrm>
            <a:off x="9198864" y="3136392"/>
            <a:ext cx="2331720" cy="201168"/>
          </a:xfrm>
          <a:prstGeom prst="rect">
            <a:avLst/>
          </a:prstGeom>
          <a:noFill/>
          <a:ln/>
        </p:spPr>
        <p:txBody>
          <a:bodyPr wrap="square" lIns="0" tIns="0" rIns="0" bIns="0" rtlCol="0" anchor="ctr"/>
          <a:lstStyle/>
          <a:p>
            <a:pPr indent="0" marL="0">
              <a:buNone/>
            </a:pPr>
            <a:r>
              <a:rPr lang="en-US" sz="1460" dirty="0">
                <a:solidFill>
                  <a:srgbClr val="176C55"/>
                </a:solidFill>
                <a:latin typeface="Calibri" pitchFamily="34" charset="0"/>
                <a:ea typeface="Calibri" pitchFamily="34" charset="-122"/>
                <a:cs typeface="Calibri" pitchFamily="34" charset="-120"/>
              </a:rPr>
              <a:t>(This − last) ÷ last × 100%</a:t>
            </a:r>
            <a:endParaRPr lang="en-US" sz="1460" dirty="0"/>
          </a:p>
        </p:txBody>
      </p:sp>
      <p:sp>
        <p:nvSpPr>
          <p:cNvPr id="52" name="Text 46"/>
          <p:cNvSpPr txBox="1"/>
          <p:nvPr/>
        </p:nvSpPr>
        <p:spPr>
          <a:xfrm>
            <a:off x="9198864" y="3429000"/>
            <a:ext cx="2331720" cy="137160"/>
          </a:xfrm>
          <a:prstGeom prst="rect">
            <a:avLst/>
          </a:prstGeom>
          <a:noFill/>
          <a:ln/>
        </p:spPr>
        <p:txBody>
          <a:bodyPr wrap="square" lIns="0" tIns="0" rIns="0" bIns="0" rtlCol="0" anchor="ctr"/>
          <a:lstStyle/>
          <a:p>
            <a:pPr indent="0" marL="0">
              <a:buNone/>
            </a:pPr>
            <a:r>
              <a:rPr lang="en-US" sz="1150" dirty="0">
                <a:solidFill>
                  <a:srgbClr val="526661"/>
                </a:solidFill>
                <a:latin typeface="Calibri" pitchFamily="34" charset="0"/>
                <a:ea typeface="Calibri" pitchFamily="34" charset="-122"/>
                <a:cs typeface="Calibri" pitchFamily="34" charset="-120"/>
              </a:rPr>
              <a:t>Momentum &amp; early warnings</a:t>
            </a:r>
            <a:endParaRPr lang="en-US" sz="1150" dirty="0"/>
          </a:p>
        </p:txBody>
      </p:sp>
      <p:sp>
        <p:nvSpPr>
          <p:cNvPr id="53" name="Text 47"/>
          <p:cNvSpPr txBox="1"/>
          <p:nvPr/>
        </p:nvSpPr>
        <p:spPr>
          <a:xfrm>
            <a:off x="566928" y="3840480"/>
            <a:ext cx="6217920" cy="182880"/>
          </a:xfrm>
          <a:prstGeom prst="rect">
            <a:avLst/>
          </a:prstGeom>
          <a:noFill/>
          <a:ln/>
        </p:spPr>
        <p:txBody>
          <a:bodyPr wrap="square" lIns="0" tIns="0" rIns="0" bIns="0" rtlCol="0" anchor="ctr"/>
          <a:lstStyle/>
          <a:p>
            <a:pPr indent="0" marL="0">
              <a:buNone/>
            </a:pPr>
            <a:r>
              <a:rPr lang="en-US" sz="1050" b="1" spc="140" kern="0" dirty="0">
                <a:solidFill>
                  <a:srgbClr val="176C55"/>
                </a:solidFill>
                <a:latin typeface="Calibri" pitchFamily="34" charset="0"/>
                <a:ea typeface="Calibri" pitchFamily="34" charset="-122"/>
                <a:cs typeface="Calibri" pitchFamily="34" charset="-120"/>
              </a:rPr>
              <a:t>DASHBOARD / SUPPORTING VIEWS</a:t>
            </a:r>
            <a:endParaRPr lang="en-US" sz="1050" dirty="0"/>
          </a:p>
        </p:txBody>
      </p:sp>
      <p:sp>
        <p:nvSpPr>
          <p:cNvPr id="54" name="Text 48"/>
          <p:cNvSpPr txBox="1"/>
          <p:nvPr/>
        </p:nvSpPr>
        <p:spPr>
          <a:xfrm>
            <a:off x="7854696" y="3840480"/>
            <a:ext cx="3767328" cy="182880"/>
          </a:xfrm>
          <a:prstGeom prst="rect">
            <a:avLst/>
          </a:prstGeom>
          <a:noFill/>
          <a:ln/>
        </p:spPr>
        <p:txBody>
          <a:bodyPr wrap="square" lIns="0" tIns="0" rIns="0" bIns="0" rtlCol="0" anchor="ctr"/>
          <a:lstStyle/>
          <a:p>
            <a:pPr algn="r" indent="0" marL="0">
              <a:buNone/>
            </a:pPr>
            <a:r>
              <a:rPr lang="en-US" sz="1150" dirty="0">
                <a:solidFill>
                  <a:srgbClr val="526661"/>
                </a:solidFill>
                <a:latin typeface="Calibri" pitchFamily="34" charset="0"/>
                <a:ea typeface="Calibri" pitchFamily="34" charset="-122"/>
                <a:cs typeface="Calibri" pitchFamily="34" charset="-120"/>
              </a:rPr>
              <a:t>Illustrative · synthetic index (0–100)</a:t>
            </a:r>
            <a:endParaRPr lang="en-US" sz="1150" dirty="0"/>
          </a:p>
        </p:txBody>
      </p:sp>
      <p:sp>
        <p:nvSpPr>
          <p:cNvPr id="55" name="Shape 49"/>
          <p:cNvSpPr/>
          <p:nvPr/>
        </p:nvSpPr>
        <p:spPr>
          <a:xfrm>
            <a:off x="548640" y="4224528"/>
            <a:ext cx="3538728" cy="1490472"/>
          </a:xfrm>
          <a:prstGeom prst="roundRect">
            <a:avLst>
              <a:gd name="adj" fmla="val 8589"/>
            </a:avLst>
          </a:prstGeom>
          <a:solidFill>
            <a:srgbClr val="FFFFFF"/>
          </a:solidFill>
          <a:ln w="10795">
            <a:solidFill>
              <a:srgbClr val="DCE7E2"/>
            </a:solidFill>
            <a:prstDash val="solid"/>
          </a:ln>
        </p:spPr>
      </p:sp>
      <p:sp>
        <p:nvSpPr>
          <p:cNvPr id="56" name="Shape 50"/>
          <p:cNvSpPr/>
          <p:nvPr/>
        </p:nvSpPr>
        <p:spPr>
          <a:xfrm>
            <a:off x="4325112" y="4224528"/>
            <a:ext cx="3538728" cy="1490472"/>
          </a:xfrm>
          <a:prstGeom prst="roundRect">
            <a:avLst>
              <a:gd name="adj" fmla="val 8589"/>
            </a:avLst>
          </a:prstGeom>
          <a:solidFill>
            <a:srgbClr val="FFFFFF"/>
          </a:solidFill>
          <a:ln w="10795">
            <a:solidFill>
              <a:srgbClr val="DCE7E2"/>
            </a:solidFill>
            <a:prstDash val="solid"/>
          </a:ln>
        </p:spPr>
      </p:sp>
      <p:sp>
        <p:nvSpPr>
          <p:cNvPr id="57" name="Shape 51"/>
          <p:cNvSpPr/>
          <p:nvPr/>
        </p:nvSpPr>
        <p:spPr>
          <a:xfrm>
            <a:off x="8101584" y="4224528"/>
            <a:ext cx="3538728" cy="1490472"/>
          </a:xfrm>
          <a:prstGeom prst="roundRect">
            <a:avLst>
              <a:gd name="adj" fmla="val 8589"/>
            </a:avLst>
          </a:prstGeom>
          <a:solidFill>
            <a:srgbClr val="FFFFFF"/>
          </a:solidFill>
          <a:ln w="10795">
            <a:solidFill>
              <a:srgbClr val="DCE7E2"/>
            </a:solidFill>
            <a:prstDash val="solid"/>
          </a:ln>
        </p:spPr>
      </p:sp>
      <p:sp>
        <p:nvSpPr>
          <p:cNvPr id="58" name="Text 52"/>
          <p:cNvSpPr txBox="1"/>
          <p:nvPr/>
        </p:nvSpPr>
        <p:spPr>
          <a:xfrm>
            <a:off x="740664" y="4389120"/>
            <a:ext cx="3108960" cy="228600"/>
          </a:xfrm>
          <a:prstGeom prst="rect">
            <a:avLst/>
          </a:prstGeom>
          <a:noFill/>
          <a:ln/>
        </p:spPr>
        <p:txBody>
          <a:bodyPr wrap="square" lIns="0" tIns="0" rIns="0" bIns="0" rtlCol="0" anchor="ctr"/>
          <a:lstStyle/>
          <a:p>
            <a:pPr indent="0" marL="0">
              <a:buNone/>
            </a:pPr>
            <a:r>
              <a:rPr lang="en-US" sz="1700" b="1" dirty="0">
                <a:solidFill>
                  <a:srgbClr val="102E2E"/>
                </a:solidFill>
                <a:latin typeface="Calibri" pitchFamily="34" charset="0"/>
                <a:ea typeface="Calibri" pitchFamily="34" charset="-122"/>
                <a:cs typeface="Calibri" pitchFamily="34" charset="-120"/>
              </a:rPr>
              <a:t>Revenue by region</a:t>
            </a:r>
            <a:endParaRPr lang="en-US" sz="1700" dirty="0"/>
          </a:p>
        </p:txBody>
      </p:sp>
      <p:sp>
        <p:nvSpPr>
          <p:cNvPr id="59" name="Text 53"/>
          <p:cNvSpPr txBox="1"/>
          <p:nvPr/>
        </p:nvSpPr>
        <p:spPr>
          <a:xfrm>
            <a:off x="4517136" y="4389120"/>
            <a:ext cx="3108960" cy="228600"/>
          </a:xfrm>
          <a:prstGeom prst="rect">
            <a:avLst/>
          </a:prstGeom>
          <a:noFill/>
          <a:ln/>
        </p:spPr>
        <p:txBody>
          <a:bodyPr wrap="square" lIns="0" tIns="0" rIns="0" bIns="0" rtlCol="0" anchor="ctr"/>
          <a:lstStyle/>
          <a:p>
            <a:pPr indent="0" marL="0">
              <a:buNone/>
            </a:pPr>
            <a:r>
              <a:rPr lang="en-US" sz="1700" b="1" dirty="0">
                <a:solidFill>
                  <a:srgbClr val="102E2E"/>
                </a:solidFill>
                <a:latin typeface="Calibri" pitchFamily="34" charset="0"/>
                <a:ea typeface="Calibri" pitchFamily="34" charset="-122"/>
                <a:cs typeface="Calibri" pitchFamily="34" charset="-120"/>
              </a:rPr>
              <a:t>Top models by revenue</a:t>
            </a:r>
            <a:endParaRPr lang="en-US" sz="1700" dirty="0"/>
          </a:p>
        </p:txBody>
      </p:sp>
      <p:sp>
        <p:nvSpPr>
          <p:cNvPr id="60" name="Text 54"/>
          <p:cNvSpPr txBox="1"/>
          <p:nvPr/>
        </p:nvSpPr>
        <p:spPr>
          <a:xfrm>
            <a:off x="8293608" y="4389120"/>
            <a:ext cx="3108960" cy="228600"/>
          </a:xfrm>
          <a:prstGeom prst="rect">
            <a:avLst/>
          </a:prstGeom>
          <a:noFill/>
          <a:ln/>
        </p:spPr>
        <p:txBody>
          <a:bodyPr wrap="square" lIns="0" tIns="0" rIns="0" bIns="0" rtlCol="0" anchor="ctr"/>
          <a:lstStyle/>
          <a:p>
            <a:pPr indent="0" marL="0">
              <a:buNone/>
            </a:pPr>
            <a:r>
              <a:rPr lang="en-US" sz="1700" b="1" dirty="0">
                <a:solidFill>
                  <a:srgbClr val="102E2E"/>
                </a:solidFill>
                <a:latin typeface="Calibri" pitchFamily="34" charset="0"/>
                <a:ea typeface="Calibri" pitchFamily="34" charset="-122"/>
                <a:cs typeface="Calibri" pitchFamily="34" charset="-120"/>
              </a:rPr>
              <a:t>Monthly revenue trend</a:t>
            </a:r>
            <a:endParaRPr lang="en-US" sz="1700" dirty="0"/>
          </a:p>
        </p:txBody>
      </p:sp>
      <p:graphicFrame>
        <p:nvGraphicFramePr>
          <p:cNvPr id="61" name="Chart 0" descr=""/>
          <p:cNvGraphicFramePr/>
          <p:nvPr/>
        </p:nvGraphicFramePr>
        <p:xfrm>
          <a:off x="676656" y="4709160"/>
          <a:ext cx="3200400" cy="914400"/>
        </p:xfrm>
        <a:graphic xmlns:a="http://schemas.openxmlformats.org/drawingml/2006/main">
          <a:graphicData uri="http://schemas.openxmlformats.org/drawingml/2006/chart">
            <c:chart xmlns:c="http://schemas.openxmlformats.org/drawingml/2006/chart" r:id="rId5"/>
          </a:graphicData>
        </a:graphic>
      </p:graphicFrame>
      <p:graphicFrame>
        <p:nvGraphicFramePr>
          <p:cNvPr id="62" name="Chart 1" descr=""/>
          <p:cNvGraphicFramePr/>
          <p:nvPr/>
        </p:nvGraphicFramePr>
        <p:xfrm>
          <a:off x="4453128" y="4709160"/>
          <a:ext cx="3200400" cy="914400"/>
        </p:xfrm>
        <a:graphic xmlns:a="http://schemas.openxmlformats.org/drawingml/2006/main">
          <a:graphicData uri="http://schemas.openxmlformats.org/drawingml/2006/chart">
            <c:chart xmlns:c="http://schemas.openxmlformats.org/drawingml/2006/chart" r:id="rId6"/>
          </a:graphicData>
        </a:graphic>
      </p:graphicFrame>
      <p:graphicFrame>
        <p:nvGraphicFramePr>
          <p:cNvPr id="63" name="Chart 2" descr=""/>
          <p:cNvGraphicFramePr/>
          <p:nvPr/>
        </p:nvGraphicFramePr>
        <p:xfrm>
          <a:off x="8247888" y="4681728"/>
          <a:ext cx="3200400" cy="960120"/>
        </p:xfrm>
        <a:graphic xmlns:a="http://schemas.openxmlformats.org/drawingml/2006/main">
          <a:graphicData uri="http://schemas.openxmlformats.org/drawingml/2006/chart">
            <c:chart xmlns:c="http://schemas.openxmlformats.org/drawingml/2006/chart" r:id="rId7"/>
          </a:graphicData>
        </a:graphic>
      </p:graphicFrame>
      <p:sp>
        <p:nvSpPr>
          <p:cNvPr id="64" name="Text 55"/>
          <p:cNvSpPr txBox="1"/>
          <p:nvPr/>
        </p:nvSpPr>
        <p:spPr>
          <a:xfrm>
            <a:off x="566928" y="5934456"/>
            <a:ext cx="1828800" cy="155448"/>
          </a:xfrm>
          <a:prstGeom prst="rect">
            <a:avLst/>
          </a:prstGeom>
          <a:noFill/>
          <a:ln/>
        </p:spPr>
        <p:txBody>
          <a:bodyPr wrap="square" lIns="0" tIns="0" rIns="0" bIns="0" rtlCol="0" anchor="ctr"/>
          <a:lstStyle/>
          <a:p>
            <a:pPr indent="0" marL="0">
              <a:buNone/>
            </a:pPr>
            <a:r>
              <a:rPr lang="en-US" sz="1050" b="1" spc="100" kern="0" dirty="0">
                <a:solidFill>
                  <a:srgbClr val="176C55"/>
                </a:solidFill>
                <a:latin typeface="Calibri" pitchFamily="34" charset="0"/>
                <a:ea typeface="Calibri" pitchFamily="34" charset="-122"/>
                <a:cs typeface="Calibri" pitchFamily="34" charset="-120"/>
              </a:rPr>
              <a:t>NEXT WITH REAL DATA</a:t>
            </a:r>
            <a:endParaRPr lang="en-US" sz="1050" dirty="0"/>
          </a:p>
        </p:txBody>
      </p:sp>
      <p:sp>
        <p:nvSpPr>
          <p:cNvPr id="65" name="Text 56"/>
          <p:cNvSpPr txBox="1"/>
          <p:nvPr/>
        </p:nvSpPr>
        <p:spPr>
          <a:xfrm>
            <a:off x="2468880" y="5879592"/>
            <a:ext cx="5486400" cy="274320"/>
          </a:xfrm>
          <a:prstGeom prst="rect">
            <a:avLst/>
          </a:prstGeom>
          <a:noFill/>
          <a:ln/>
        </p:spPr>
        <p:txBody>
          <a:bodyPr wrap="square" lIns="0" tIns="0" rIns="0" bIns="0" rtlCol="0" anchor="ctr"/>
          <a:lstStyle/>
          <a:p>
            <a:pPr indent="0" marL="0">
              <a:buNone/>
            </a:pPr>
            <a:r>
              <a:rPr lang="en-US" sz="1700" b="1" dirty="0">
                <a:solidFill>
                  <a:srgbClr val="102E2E"/>
                </a:solidFill>
                <a:latin typeface="Calibri" pitchFamily="34" charset="0"/>
                <a:ea typeface="Calibri" pitchFamily="34" charset="-122"/>
                <a:cs typeface="Calibri" pitchFamily="34" charset="-120"/>
              </a:rPr>
              <a:t>GPU utilisation + cost / M tokens → margin</a:t>
            </a:r>
            <a:endParaRPr lang="en-US" sz="1700" dirty="0"/>
          </a:p>
        </p:txBody>
      </p:sp>
      <p:sp>
        <p:nvSpPr>
          <p:cNvPr id="66" name="Text 57"/>
          <p:cNvSpPr txBox="1"/>
          <p:nvPr/>
        </p:nvSpPr>
        <p:spPr>
          <a:xfrm>
            <a:off x="8449056" y="5916168"/>
            <a:ext cx="3154680" cy="201168"/>
          </a:xfrm>
          <a:prstGeom prst="rect">
            <a:avLst/>
          </a:prstGeom>
          <a:noFill/>
          <a:ln/>
        </p:spPr>
        <p:txBody>
          <a:bodyPr wrap="square" lIns="0" tIns="0" rIns="0" bIns="0" rtlCol="0" anchor="ctr"/>
          <a:lstStyle/>
          <a:p>
            <a:pPr algn="r" indent="0" marL="0">
              <a:buNone/>
            </a:pPr>
            <a:r>
              <a:rPr lang="en-US" sz="1200" dirty="0">
                <a:solidFill>
                  <a:srgbClr val="526661"/>
                </a:solidFill>
                <a:latin typeface="Calibri" pitchFamily="34" charset="0"/>
                <a:ea typeface="Calibri" pitchFamily="34" charset="-122"/>
                <a:cs typeface="Calibri" pitchFamily="34" charset="-120"/>
              </a:rPr>
              <a:t>SQLite ventes.db → Streamlit</a:t>
            </a:r>
            <a:endParaRPr lang="en-US" sz="1200" dirty="0"/>
          </a:p>
        </p:txBody>
      </p:sp>
      <p:sp>
        <p:nvSpPr>
          <p:cNvPr id="67" name="Text 58"/>
          <p:cNvSpPr txBox="1"/>
          <p:nvPr/>
        </p:nvSpPr>
        <p:spPr>
          <a:xfrm>
            <a:off x="548640" y="6455664"/>
            <a:ext cx="4572000" cy="164592"/>
          </a:xfrm>
          <a:prstGeom prst="rect">
            <a:avLst/>
          </a:prstGeom>
          <a:noFill/>
          <a:ln/>
        </p:spPr>
        <p:txBody>
          <a:bodyPr wrap="square" lIns="0" tIns="0" rIns="0" bIns="0" rtlCol="0" anchor="ctr"/>
          <a:lstStyle/>
          <a:p>
            <a:pPr indent="0" marL="0">
              <a:buNone/>
            </a:pPr>
            <a:r>
              <a:rPr lang="en-US" sz="1050" dirty="0">
                <a:solidFill>
                  <a:srgbClr val="526661"/>
                </a:solidFill>
                <a:latin typeface="Calibri" pitchFamily="34" charset="0"/>
                <a:ea typeface="Calibri" pitchFamily="34" charset="-122"/>
                <a:cs typeface="Calibri" pitchFamily="34" charset="-120"/>
              </a:rPr>
              <a:t>Kadache Ahmed Rami  /  3CS2</a:t>
            </a:r>
            <a:endParaRPr lang="en-US" sz="1050" dirty="0"/>
          </a:p>
        </p:txBody>
      </p:sp>
      <p:sp>
        <p:nvSpPr>
          <p:cNvPr id="68" name="Text 59"/>
          <p:cNvSpPr txBox="1"/>
          <p:nvPr/>
        </p:nvSpPr>
        <p:spPr>
          <a:xfrm>
            <a:off x="7086600" y="6455664"/>
            <a:ext cx="3977640" cy="164592"/>
          </a:xfrm>
          <a:prstGeom prst="rect">
            <a:avLst/>
          </a:prstGeom>
          <a:noFill/>
          <a:ln/>
        </p:spPr>
        <p:txBody>
          <a:bodyPr wrap="square" lIns="0" tIns="0" rIns="0" bIns="0" rtlCol="0" anchor="ctr"/>
          <a:lstStyle/>
          <a:p>
            <a:pPr algn="r" indent="0" marL="0">
              <a:buNone/>
            </a:pPr>
            <a:r>
              <a:rPr lang="en-US" sz="1050" dirty="0">
                <a:solidFill>
                  <a:srgbClr val="526661"/>
                </a:solidFill>
                <a:latin typeface="Calibri" pitchFamily="34" charset="0"/>
                <a:ea typeface="Calibri" pitchFamily="34" charset="-122"/>
                <a:cs typeface="Calibri" pitchFamily="34" charset="-120"/>
              </a:rPr>
              <a:t>Business Intelligence  ·  October 2026</a:t>
            </a:r>
            <a:endParaRPr lang="en-US" sz="1050" dirty="0"/>
          </a:p>
        </p:txBody>
      </p:sp>
      <p:sp>
        <p:nvSpPr>
          <p:cNvPr id="69" name="Text 60"/>
          <p:cNvSpPr txBox="1"/>
          <p:nvPr/>
        </p:nvSpPr>
        <p:spPr>
          <a:xfrm>
            <a:off x="11338560" y="6428232"/>
            <a:ext cx="292608" cy="210312"/>
          </a:xfrm>
          <a:prstGeom prst="rect">
            <a:avLst/>
          </a:prstGeom>
          <a:noFill/>
          <a:ln/>
        </p:spPr>
        <p:txBody>
          <a:bodyPr wrap="square" lIns="0" tIns="0" rIns="0" bIns="0" rtlCol="0" anchor="ctr"/>
          <a:lstStyle/>
          <a:p>
            <a:pPr algn="r" indent="0" marL="0">
              <a:buNone/>
            </a:pPr>
            <a:r>
              <a:rPr lang="en-US" sz="1100" b="1" dirty="0">
                <a:solidFill>
                  <a:srgbClr val="176C55"/>
                </a:solidFill>
                <a:latin typeface="Calibri" pitchFamily="34" charset="0"/>
                <a:ea typeface="Calibri" pitchFamily="34" charset="-122"/>
                <a:cs typeface="Calibri" pitchFamily="34" charset="-120"/>
              </a:rPr>
              <a:t>03</a:t>
            </a:r>
            <a:endParaRPr lang="en-US" sz="1100" dirty="0"/>
          </a:p>
        </p:txBody>
      </p:sp>
    </p:spTree>
  </p:cSld>
  <p:clrMapOvr>
    <a:masterClrMapping/>
  </p:clrMapOvr>
  <mc:AlternateContent xmlns:mc="http://schemas.openxmlformats.org/markup-compatibility/2006" xmlns:p159="http://schemas.microsoft.com/office/powerpoint/2015/09/main" xmlns:p14="http://schemas.microsoft.com/office/powerpoint/2010/main" xmlns:p="http://schemas.openxmlformats.org/presentationml/2006/main">
    <mc:Choice Requires="p159">
      <p:transition spd="med" p14:dur="900">
        <p159:morph option="byObject"/>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Ain Token (fictional)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Ain Token | Business Intelligence</dc:title>
  <dc:subject>TP1 – Introduction to Business Intelligence</dc:subject>
  <dc:creator>BI Consultants</dc:creator>
  <cp:lastModifiedBy>BI Consultants</cp:lastModifiedBy>
  <cp:revision>1</cp:revision>
  <dcterms:created xsi:type="dcterms:W3CDTF">2026-10-04T10:02:18Z</dcterms:created>
  <dcterms:modified xsi:type="dcterms:W3CDTF">2026-10-04T10:02:18Z</dcterms:modified>
</cp:coreProperties>
</file>